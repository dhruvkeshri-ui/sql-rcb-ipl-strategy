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8" r:id="rId7"/>
    <p:sldId id="262" r:id="rId8"/>
    <p:sldId id="275" r:id="rId9"/>
    <p:sldId id="270" r:id="rId10"/>
    <p:sldId id="264" r:id="rId11"/>
    <p:sldId id="273" r:id="rId12"/>
    <p:sldId id="274" r:id="rId13"/>
    <p:sldId id="271" r:id="rId14"/>
    <p:sldId id="272"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C5C5"/>
    <a:srgbClr val="FF9900"/>
    <a:srgbClr val="FF3300"/>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0250D-03A0-4725-9D51-C024F94F3196}" v="1261" dt="2025-12-31T17:47:05.0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57" autoAdjust="0"/>
    <p:restoredTop sz="94660"/>
  </p:normalViewPr>
  <p:slideViewPr>
    <p:cSldViewPr snapToGrid="0">
      <p:cViewPr varScale="1">
        <p:scale>
          <a:sx n="90" d="100"/>
          <a:sy n="90" d="100"/>
        </p:scale>
        <p:origin x="285"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RUV KESHRI" userId="f54754b99e6ab5c1" providerId="LiveId" clId="{5CF0F215-8477-49B4-9B7F-ACCE8B298121}"/>
    <pc:docChg chg="undo redo custSel addSld delSld modSld sldOrd">
      <pc:chgData name="DHRUV KESHRI" userId="f54754b99e6ab5c1" providerId="LiveId" clId="{5CF0F215-8477-49B4-9B7F-ACCE8B298121}" dt="2025-12-31T17:47:05.090" v="3149" actId="207"/>
      <pc:docMkLst>
        <pc:docMk/>
      </pc:docMkLst>
      <pc:sldChg chg="addSp delSp modSp mod">
        <pc:chgData name="DHRUV KESHRI" userId="f54754b99e6ab5c1" providerId="LiveId" clId="{5CF0F215-8477-49B4-9B7F-ACCE8B298121}" dt="2025-12-05T10:02:01.312" v="1767" actId="14100"/>
        <pc:sldMkLst>
          <pc:docMk/>
          <pc:sldMk cId="663605096" sldId="256"/>
        </pc:sldMkLst>
        <pc:picChg chg="add mod">
          <ac:chgData name="DHRUV KESHRI" userId="f54754b99e6ab5c1" providerId="LiveId" clId="{5CF0F215-8477-49B4-9B7F-ACCE8B298121}" dt="2025-12-05T10:02:01.312" v="1767" actId="14100"/>
          <ac:picMkLst>
            <pc:docMk/>
            <pc:sldMk cId="663605096" sldId="256"/>
            <ac:picMk id="1028" creationId="{E7599E2F-B4BC-41BE-4661-40942E5F2824}"/>
          </ac:picMkLst>
        </pc:picChg>
      </pc:sldChg>
      <pc:sldChg chg="addSp delSp modSp new mod ord">
        <pc:chgData name="DHRUV KESHRI" userId="f54754b99e6ab5c1" providerId="LiveId" clId="{5CF0F215-8477-49B4-9B7F-ACCE8B298121}" dt="2025-12-05T10:34:36.502" v="1837" actId="1076"/>
        <pc:sldMkLst>
          <pc:docMk/>
          <pc:sldMk cId="2881494275" sldId="258"/>
        </pc:sldMkLst>
        <pc:spChg chg="add mod">
          <ac:chgData name="DHRUV KESHRI" userId="f54754b99e6ab5c1" providerId="LiveId" clId="{5CF0F215-8477-49B4-9B7F-ACCE8B298121}" dt="2025-12-05T10:34:36.502" v="1837" actId="1076"/>
          <ac:spMkLst>
            <pc:docMk/>
            <pc:sldMk cId="2881494275" sldId="258"/>
            <ac:spMk id="4" creationId="{290D9B94-F288-B473-41ED-F839CF54D9C3}"/>
          </ac:spMkLst>
        </pc:spChg>
      </pc:sldChg>
      <pc:sldChg chg="addSp modSp new mod">
        <pc:chgData name="DHRUV KESHRI" userId="f54754b99e6ab5c1" providerId="LiveId" clId="{5CF0F215-8477-49B4-9B7F-ACCE8B298121}" dt="2025-12-05T10:36:05.132" v="1846" actId="403"/>
        <pc:sldMkLst>
          <pc:docMk/>
          <pc:sldMk cId="2174843251" sldId="261"/>
        </pc:sldMkLst>
        <pc:spChg chg="mod">
          <ac:chgData name="DHRUV KESHRI" userId="f54754b99e6ab5c1" providerId="LiveId" clId="{5CF0F215-8477-49B4-9B7F-ACCE8B298121}" dt="2025-12-05T10:36:05.132" v="1846" actId="403"/>
          <ac:spMkLst>
            <pc:docMk/>
            <pc:sldMk cId="2174843251" sldId="261"/>
            <ac:spMk id="3" creationId="{E2D726F1-8D25-A141-297D-16A9F29D38FD}"/>
          </ac:spMkLst>
        </pc:spChg>
      </pc:sldChg>
      <pc:sldChg chg="addSp delSp modSp new mod">
        <pc:chgData name="DHRUV KESHRI" userId="f54754b99e6ab5c1" providerId="LiveId" clId="{5CF0F215-8477-49B4-9B7F-ACCE8B298121}" dt="2025-12-06T20:14:05.483" v="2928"/>
        <pc:sldMkLst>
          <pc:docMk/>
          <pc:sldMk cId="971834912" sldId="262"/>
        </pc:sldMkLst>
        <pc:spChg chg="mod">
          <ac:chgData name="DHRUV KESHRI" userId="f54754b99e6ab5c1" providerId="LiveId" clId="{5CF0F215-8477-49B4-9B7F-ACCE8B298121}" dt="2025-12-04T13:39:20.302" v="1138" actId="113"/>
          <ac:spMkLst>
            <pc:docMk/>
            <pc:sldMk cId="971834912" sldId="262"/>
            <ac:spMk id="2" creationId="{65DA13AA-2EFB-5A92-C970-7C39BAE9F258}"/>
          </ac:spMkLst>
        </pc:spChg>
        <pc:spChg chg="add mod">
          <ac:chgData name="DHRUV KESHRI" userId="f54754b99e6ab5c1" providerId="LiveId" clId="{5CF0F215-8477-49B4-9B7F-ACCE8B298121}" dt="2025-12-05T11:24:04.729" v="1990" actId="1076"/>
          <ac:spMkLst>
            <pc:docMk/>
            <pc:sldMk cId="971834912" sldId="262"/>
            <ac:spMk id="7" creationId="{C40544A1-1851-75BF-D240-3DF1C7A50357}"/>
          </ac:spMkLst>
        </pc:spChg>
        <pc:spChg chg="add mod">
          <ac:chgData name="DHRUV KESHRI" userId="f54754b99e6ab5c1" providerId="LiveId" clId="{5CF0F215-8477-49B4-9B7F-ACCE8B298121}" dt="2025-12-06T10:39:10.334" v="2503" actId="20577"/>
          <ac:spMkLst>
            <pc:docMk/>
            <pc:sldMk cId="971834912" sldId="262"/>
            <ac:spMk id="9" creationId="{E1716C2C-8DE4-D650-39A8-FA07C7BDF677}"/>
          </ac:spMkLst>
        </pc:spChg>
        <pc:graphicFrameChg chg="add mod">
          <ac:chgData name="DHRUV KESHRI" userId="f54754b99e6ab5c1" providerId="LiveId" clId="{5CF0F215-8477-49B4-9B7F-ACCE8B298121}" dt="2025-12-06T20:14:05.483" v="2928"/>
          <ac:graphicFrameMkLst>
            <pc:docMk/>
            <pc:sldMk cId="971834912" sldId="262"/>
            <ac:graphicFrameMk id="3" creationId="{18B872CE-4851-EAE6-3180-75DB1345C63B}"/>
          </ac:graphicFrameMkLst>
        </pc:graphicFrameChg>
      </pc:sldChg>
      <pc:sldChg chg="addSp delSp modSp new mod ord">
        <pc:chgData name="DHRUV KESHRI" userId="f54754b99e6ab5c1" providerId="LiveId" clId="{5CF0F215-8477-49B4-9B7F-ACCE8B298121}" dt="2025-12-31T17:47:05.090" v="3149" actId="207"/>
        <pc:sldMkLst>
          <pc:docMk/>
          <pc:sldMk cId="3885502267" sldId="264"/>
        </pc:sldMkLst>
        <pc:spChg chg="mod">
          <ac:chgData name="DHRUV KESHRI" userId="f54754b99e6ab5c1" providerId="LiveId" clId="{5CF0F215-8477-49B4-9B7F-ACCE8B298121}" dt="2025-12-04T13:39:43.380" v="1142" actId="113"/>
          <ac:spMkLst>
            <pc:docMk/>
            <pc:sldMk cId="3885502267" sldId="264"/>
            <ac:spMk id="2" creationId="{D8DECC65-77FA-7AF4-5428-B1A79BD2B28B}"/>
          </ac:spMkLst>
        </pc:spChg>
        <pc:spChg chg="add">
          <ac:chgData name="DHRUV KESHRI" userId="f54754b99e6ab5c1" providerId="LiveId" clId="{5CF0F215-8477-49B4-9B7F-ACCE8B298121}" dt="2025-12-30T17:45:32.177" v="3103"/>
          <ac:spMkLst>
            <pc:docMk/>
            <pc:sldMk cId="3885502267" sldId="264"/>
            <ac:spMk id="5" creationId="{0BF4177A-A81D-2E58-442E-687CEE01C8C3}"/>
          </ac:spMkLst>
        </pc:spChg>
        <pc:spChg chg="add mod">
          <ac:chgData name="DHRUV KESHRI" userId="f54754b99e6ab5c1" providerId="LiveId" clId="{5CF0F215-8477-49B4-9B7F-ACCE8B298121}" dt="2025-12-05T11:24:19.223" v="1991" actId="1076"/>
          <ac:spMkLst>
            <pc:docMk/>
            <pc:sldMk cId="3885502267" sldId="264"/>
            <ac:spMk id="6" creationId="{42F3877A-AE38-0FDE-41F5-0945681825F0}"/>
          </ac:spMkLst>
        </pc:spChg>
        <pc:spChg chg="add del mod">
          <ac:chgData name="DHRUV KESHRI" userId="f54754b99e6ab5c1" providerId="LiveId" clId="{5CF0F215-8477-49B4-9B7F-ACCE8B298121}" dt="2025-12-30T17:46:55.349" v="3127"/>
          <ac:spMkLst>
            <pc:docMk/>
            <pc:sldMk cId="3885502267" sldId="264"/>
            <ac:spMk id="8" creationId="{A0DBC4D6-43CF-BD83-4EF6-789FAF46F765}"/>
          </ac:spMkLst>
        </pc:spChg>
        <pc:spChg chg="add">
          <ac:chgData name="DHRUV KESHRI" userId="f54754b99e6ab5c1" providerId="LiveId" clId="{5CF0F215-8477-49B4-9B7F-ACCE8B298121}" dt="2025-12-30T17:45:36.687" v="3104"/>
          <ac:spMkLst>
            <pc:docMk/>
            <pc:sldMk cId="3885502267" sldId="264"/>
            <ac:spMk id="9" creationId="{BAA5FB8A-69F1-0683-0E8B-F405BC749151}"/>
          </ac:spMkLst>
        </pc:spChg>
        <pc:spChg chg="add mod">
          <ac:chgData name="DHRUV KESHRI" userId="f54754b99e6ab5c1" providerId="LiveId" clId="{5CF0F215-8477-49B4-9B7F-ACCE8B298121}" dt="2025-12-30T17:46:54.138" v="3125" actId="1076"/>
          <ac:spMkLst>
            <pc:docMk/>
            <pc:sldMk cId="3885502267" sldId="264"/>
            <ac:spMk id="10" creationId="{E7568C02-B4F1-D5C8-B92A-1573BC2AADCA}"/>
          </ac:spMkLst>
        </pc:spChg>
        <pc:graphicFrameChg chg="add del mod">
          <ac:chgData name="DHRUV KESHRI" userId="f54754b99e6ab5c1" providerId="LiveId" clId="{5CF0F215-8477-49B4-9B7F-ACCE8B298121}" dt="2025-12-31T17:44:40.554" v="3128" actId="478"/>
          <ac:graphicFrameMkLst>
            <pc:docMk/>
            <pc:sldMk cId="3885502267" sldId="264"/>
            <ac:graphicFrameMk id="3" creationId="{5F2622E7-F0A4-395E-CBBA-E491991B8B00}"/>
          </ac:graphicFrameMkLst>
        </pc:graphicFrameChg>
        <pc:graphicFrameChg chg="add mod">
          <ac:chgData name="DHRUV KESHRI" userId="f54754b99e6ab5c1" providerId="LiveId" clId="{5CF0F215-8477-49B4-9B7F-ACCE8B298121}" dt="2025-12-31T17:47:05.090" v="3149" actId="207"/>
          <ac:graphicFrameMkLst>
            <pc:docMk/>
            <pc:sldMk cId="3885502267" sldId="264"/>
            <ac:graphicFrameMk id="5" creationId="{FD2994F9-0C5A-6198-A60F-DA3268CBF936}"/>
          </ac:graphicFrameMkLst>
        </pc:graphicFrameChg>
        <pc:graphicFrameChg chg="add del mod">
          <ac:chgData name="DHRUV KESHRI" userId="f54754b99e6ab5c1" providerId="LiveId" clId="{5CF0F215-8477-49B4-9B7F-ACCE8B298121}" dt="2025-12-30T17:27:50.986" v="2992" actId="478"/>
          <ac:graphicFrameMkLst>
            <pc:docMk/>
            <pc:sldMk cId="3885502267" sldId="264"/>
            <ac:graphicFrameMk id="7" creationId="{C3B363F4-788B-C9AF-B5AF-5FA0B01DAD6A}"/>
          </ac:graphicFrameMkLst>
        </pc:graphicFrameChg>
      </pc:sldChg>
      <pc:sldChg chg="addSp delSp modSp new mod ord">
        <pc:chgData name="DHRUV KESHRI" userId="f54754b99e6ab5c1" providerId="LiveId" clId="{5CF0F215-8477-49B4-9B7F-ACCE8B298121}" dt="2025-12-05T13:27:25.589" v="2401" actId="27918"/>
        <pc:sldMkLst>
          <pc:docMk/>
          <pc:sldMk cId="656793038" sldId="268"/>
        </pc:sldMkLst>
        <pc:spChg chg="mod">
          <ac:chgData name="DHRUV KESHRI" userId="f54754b99e6ab5c1" providerId="LiveId" clId="{5CF0F215-8477-49B4-9B7F-ACCE8B298121}" dt="2025-12-04T13:39:30.083" v="1141" actId="1035"/>
          <ac:spMkLst>
            <pc:docMk/>
            <pc:sldMk cId="656793038" sldId="268"/>
            <ac:spMk id="2" creationId="{3AFDBD02-0959-4213-BD43-53D9A2FC16EA}"/>
          </ac:spMkLst>
        </pc:spChg>
        <pc:spChg chg="add mod">
          <ac:chgData name="DHRUV KESHRI" userId="f54754b99e6ab5c1" providerId="LiveId" clId="{5CF0F215-8477-49B4-9B7F-ACCE8B298121}" dt="2025-12-05T11:23:01.874" v="1971" actId="1035"/>
          <ac:spMkLst>
            <pc:docMk/>
            <pc:sldMk cId="656793038" sldId="268"/>
            <ac:spMk id="5" creationId="{3673FA92-2D16-BCB7-F8FD-734CE66730A7}"/>
          </ac:spMkLst>
        </pc:spChg>
        <pc:spChg chg="add mod">
          <ac:chgData name="DHRUV KESHRI" userId="f54754b99e6ab5c1" providerId="LiveId" clId="{5CF0F215-8477-49B4-9B7F-ACCE8B298121}" dt="2025-12-05T13:26:52.647" v="2399" actId="115"/>
          <ac:spMkLst>
            <pc:docMk/>
            <pc:sldMk cId="656793038" sldId="268"/>
            <ac:spMk id="9" creationId="{257E7C61-C293-B9F7-CAA4-7D1C2CB10842}"/>
          </ac:spMkLst>
        </pc:spChg>
        <pc:graphicFrameChg chg="add mod">
          <ac:chgData name="DHRUV KESHRI" userId="f54754b99e6ab5c1" providerId="LiveId" clId="{5CF0F215-8477-49B4-9B7F-ACCE8B298121}" dt="2025-12-05T13:27:21.254" v="2400" actId="208"/>
          <ac:graphicFrameMkLst>
            <pc:docMk/>
            <pc:sldMk cId="656793038" sldId="268"/>
            <ac:graphicFrameMk id="6" creationId="{025671B4-938E-7790-E352-89DC723334C8}"/>
          </ac:graphicFrameMkLst>
        </pc:graphicFrameChg>
      </pc:sldChg>
      <pc:sldChg chg="addSp delSp modSp new mod ord">
        <pc:chgData name="DHRUV KESHRI" userId="f54754b99e6ab5c1" providerId="LiveId" clId="{5CF0F215-8477-49B4-9B7F-ACCE8B298121}" dt="2025-12-06T20:04:41.357" v="2789" actId="1076"/>
        <pc:sldMkLst>
          <pc:docMk/>
          <pc:sldMk cId="355605187" sldId="270"/>
        </pc:sldMkLst>
        <pc:spChg chg="mod">
          <ac:chgData name="DHRUV KESHRI" userId="f54754b99e6ab5c1" providerId="LiveId" clId="{5CF0F215-8477-49B4-9B7F-ACCE8B298121}" dt="2025-12-04T14:32:02.693" v="1429" actId="20577"/>
          <ac:spMkLst>
            <pc:docMk/>
            <pc:sldMk cId="355605187" sldId="270"/>
            <ac:spMk id="2" creationId="{0DDFA8EF-B3F0-B4F8-5887-5B0A54A95B81}"/>
          </ac:spMkLst>
        </pc:spChg>
        <pc:spChg chg="add mod">
          <ac:chgData name="DHRUV KESHRI" userId="f54754b99e6ab5c1" providerId="LiveId" clId="{5CF0F215-8477-49B4-9B7F-ACCE8B298121}" dt="2025-12-05T11:53:43.600" v="2061" actId="255"/>
          <ac:spMkLst>
            <pc:docMk/>
            <pc:sldMk cId="355605187" sldId="270"/>
            <ac:spMk id="7" creationId="{DDA47C97-D9F1-5AE7-58B2-6B19EE25E466}"/>
          </ac:spMkLst>
        </pc:spChg>
        <pc:spChg chg="add mod">
          <ac:chgData name="DHRUV KESHRI" userId="f54754b99e6ab5c1" providerId="LiveId" clId="{5CF0F215-8477-49B4-9B7F-ACCE8B298121}" dt="2025-12-06T20:03:27.951" v="2769" actId="1076"/>
          <ac:spMkLst>
            <pc:docMk/>
            <pc:sldMk cId="355605187" sldId="270"/>
            <ac:spMk id="9" creationId="{CC6CDE64-33E0-7457-3BB7-E9C7E0648F2B}"/>
          </ac:spMkLst>
        </pc:spChg>
        <pc:spChg chg="add mod">
          <ac:chgData name="DHRUV KESHRI" userId="f54754b99e6ab5c1" providerId="LiveId" clId="{5CF0F215-8477-49B4-9B7F-ACCE8B298121}" dt="2025-12-06T20:04:41.357" v="2789" actId="1076"/>
          <ac:spMkLst>
            <pc:docMk/>
            <pc:sldMk cId="355605187" sldId="270"/>
            <ac:spMk id="11" creationId="{F28030FC-CFAB-23A8-84F3-06FE859BA809}"/>
          </ac:spMkLst>
        </pc:spChg>
        <pc:graphicFrameChg chg="add mod">
          <ac:chgData name="DHRUV KESHRI" userId="f54754b99e6ab5c1" providerId="LiveId" clId="{5CF0F215-8477-49B4-9B7F-ACCE8B298121}" dt="2025-12-06T11:34:28.640" v="2746"/>
          <ac:graphicFrameMkLst>
            <pc:docMk/>
            <pc:sldMk cId="355605187" sldId="270"/>
            <ac:graphicFrameMk id="3" creationId="{6EE622AF-99F5-D30A-4121-9B24D6790720}"/>
          </ac:graphicFrameMkLst>
        </pc:graphicFrameChg>
      </pc:sldChg>
      <pc:sldChg chg="addSp delSp modSp new mod">
        <pc:chgData name="DHRUV KESHRI" userId="f54754b99e6ab5c1" providerId="LiveId" clId="{5CF0F215-8477-49B4-9B7F-ACCE8B298121}" dt="2025-12-06T20:18:28.156" v="2991" actId="20577"/>
        <pc:sldMkLst>
          <pc:docMk/>
          <pc:sldMk cId="3050422469" sldId="271"/>
        </pc:sldMkLst>
        <pc:spChg chg="mod">
          <ac:chgData name="DHRUV KESHRI" userId="f54754b99e6ab5c1" providerId="LiveId" clId="{5CF0F215-8477-49B4-9B7F-ACCE8B298121}" dt="2025-12-06T20:17:21.878" v="2967" actId="20577"/>
          <ac:spMkLst>
            <pc:docMk/>
            <pc:sldMk cId="3050422469" sldId="271"/>
            <ac:spMk id="3" creationId="{2EC8592E-7EB1-12CE-E78C-F07F6FDF7F63}"/>
          </ac:spMkLst>
        </pc:spChg>
        <pc:spChg chg="add del mod">
          <ac:chgData name="DHRUV KESHRI" userId="f54754b99e6ab5c1" providerId="LiveId" clId="{5CF0F215-8477-49B4-9B7F-ACCE8B298121}" dt="2025-12-06T20:18:28.156" v="2991" actId="20577"/>
          <ac:spMkLst>
            <pc:docMk/>
            <pc:sldMk cId="3050422469" sldId="271"/>
            <ac:spMk id="6" creationId="{1D28C7E4-E6E1-4EC0-2FD7-4AFC2F3DD158}"/>
          </ac:spMkLst>
        </pc:spChg>
      </pc:sldChg>
      <pc:sldChg chg="addSp modSp new mod">
        <pc:chgData name="DHRUV KESHRI" userId="f54754b99e6ab5c1" providerId="LiveId" clId="{5CF0F215-8477-49B4-9B7F-ACCE8B298121}" dt="2025-12-05T13:24:58.810" v="2397" actId="255"/>
        <pc:sldMkLst>
          <pc:docMk/>
          <pc:sldMk cId="3607100510" sldId="272"/>
        </pc:sldMkLst>
        <pc:spChg chg="mod">
          <ac:chgData name="DHRUV KESHRI" userId="f54754b99e6ab5c1" providerId="LiveId" clId="{5CF0F215-8477-49B4-9B7F-ACCE8B298121}" dt="2025-12-05T13:24:58.810" v="2397" actId="255"/>
          <ac:spMkLst>
            <pc:docMk/>
            <pc:sldMk cId="3607100510" sldId="272"/>
            <ac:spMk id="3" creationId="{8BF64B78-DB41-A70E-DD7B-F3644B88120D}"/>
          </ac:spMkLst>
        </pc:spChg>
      </pc:sldChg>
      <pc:sldChg chg="addSp delSp modSp new mod ord">
        <pc:chgData name="DHRUV KESHRI" userId="f54754b99e6ab5c1" providerId="LiveId" clId="{5CF0F215-8477-49B4-9B7F-ACCE8B298121}" dt="2025-12-05T13:11:24.784" v="2198"/>
        <pc:sldMkLst>
          <pc:docMk/>
          <pc:sldMk cId="879352876" sldId="273"/>
        </pc:sldMkLst>
        <pc:spChg chg="mod">
          <ac:chgData name="DHRUV KESHRI" userId="f54754b99e6ab5c1" providerId="LiveId" clId="{5CF0F215-8477-49B4-9B7F-ACCE8B298121}" dt="2025-12-04T13:26:10.067" v="1085" actId="20577"/>
          <ac:spMkLst>
            <pc:docMk/>
            <pc:sldMk cId="879352876" sldId="273"/>
            <ac:spMk id="2" creationId="{A7EC69FD-3D2A-15E6-1077-FE37504F681A}"/>
          </ac:spMkLst>
        </pc:spChg>
        <pc:spChg chg="add mod">
          <ac:chgData name="DHRUV KESHRI" userId="f54754b99e6ab5c1" providerId="LiveId" clId="{5CF0F215-8477-49B4-9B7F-ACCE8B298121}" dt="2025-12-05T13:05:18.458" v="2150" actId="27636"/>
          <ac:spMkLst>
            <pc:docMk/>
            <pc:sldMk cId="879352876" sldId="273"/>
            <ac:spMk id="9" creationId="{B03C38CC-1908-DD57-0F92-7067A3B12EDD}"/>
          </ac:spMkLst>
        </pc:spChg>
        <pc:graphicFrameChg chg="add mod">
          <ac:chgData name="DHRUV KESHRI" userId="f54754b99e6ab5c1" providerId="LiveId" clId="{5CF0F215-8477-49B4-9B7F-ACCE8B298121}" dt="2025-12-05T13:06:37.012" v="2154"/>
          <ac:graphicFrameMkLst>
            <pc:docMk/>
            <pc:sldMk cId="879352876" sldId="273"/>
            <ac:graphicFrameMk id="7" creationId="{40711BFF-A44A-30DC-0FFB-D051EFFACBD0}"/>
          </ac:graphicFrameMkLst>
        </pc:graphicFrameChg>
      </pc:sldChg>
      <pc:sldChg chg="addSp delSp modSp new mod ord">
        <pc:chgData name="DHRUV KESHRI" userId="f54754b99e6ab5c1" providerId="LiveId" clId="{5CF0F215-8477-49B4-9B7F-ACCE8B298121}" dt="2025-12-05T13:07:44.143" v="2184" actId="403"/>
        <pc:sldMkLst>
          <pc:docMk/>
          <pc:sldMk cId="1593978470" sldId="274"/>
        </pc:sldMkLst>
        <pc:spChg chg="mod">
          <ac:chgData name="DHRUV KESHRI" userId="f54754b99e6ab5c1" providerId="LiveId" clId="{5CF0F215-8477-49B4-9B7F-ACCE8B298121}" dt="2025-12-04T13:26:21.334" v="1086"/>
          <ac:spMkLst>
            <pc:docMk/>
            <pc:sldMk cId="1593978470" sldId="274"/>
            <ac:spMk id="2" creationId="{91A4055D-D910-4322-F255-038A5A86B5DA}"/>
          </ac:spMkLst>
        </pc:spChg>
        <pc:spChg chg="add mod">
          <ac:chgData name="DHRUV KESHRI" userId="f54754b99e6ab5c1" providerId="LiveId" clId="{5CF0F215-8477-49B4-9B7F-ACCE8B298121}" dt="2025-12-05T13:07:44.143" v="2184" actId="403"/>
          <ac:spMkLst>
            <pc:docMk/>
            <pc:sldMk cId="1593978470" sldId="274"/>
            <ac:spMk id="7" creationId="{76346CD1-AAEE-671A-0151-766739247EED}"/>
          </ac:spMkLst>
        </pc:spChg>
        <pc:graphicFrameChg chg="add mod">
          <ac:chgData name="DHRUV KESHRI" userId="f54754b99e6ab5c1" providerId="LiveId" clId="{5CF0F215-8477-49B4-9B7F-ACCE8B298121}" dt="2025-12-05T11:55:43.711" v="2097" actId="14100"/>
          <ac:graphicFrameMkLst>
            <pc:docMk/>
            <pc:sldMk cId="1593978470" sldId="274"/>
            <ac:graphicFrameMk id="4" creationId="{5DCC7D3E-F831-76C1-BEC4-C9CE177F8764}"/>
          </ac:graphicFrameMkLst>
        </pc:graphicFrameChg>
        <pc:picChg chg="add mod">
          <ac:chgData name="DHRUV KESHRI" userId="f54754b99e6ab5c1" providerId="LiveId" clId="{5CF0F215-8477-49B4-9B7F-ACCE8B298121}" dt="2025-12-04T13:09:26.212" v="1037"/>
          <ac:picMkLst>
            <pc:docMk/>
            <pc:sldMk cId="1593978470" sldId="274"/>
            <ac:picMk id="5" creationId="{424969DE-CA94-D61F-002B-458F4E7AFB85}"/>
          </ac:picMkLst>
        </pc:picChg>
      </pc:sldChg>
      <pc:sldChg chg="addSp delSp modSp new mod ord">
        <pc:chgData name="DHRUV KESHRI" userId="f54754b99e6ab5c1" providerId="LiveId" clId="{5CF0F215-8477-49B4-9B7F-ACCE8B298121}" dt="2025-12-06T20:14:37.951" v="2935" actId="403"/>
        <pc:sldMkLst>
          <pc:docMk/>
          <pc:sldMk cId="320463752" sldId="275"/>
        </pc:sldMkLst>
        <pc:spChg chg="mod">
          <ac:chgData name="DHRUV KESHRI" userId="f54754b99e6ab5c1" providerId="LiveId" clId="{5CF0F215-8477-49B4-9B7F-ACCE8B298121}" dt="2025-12-04T13:58:47.179" v="1175" actId="113"/>
          <ac:spMkLst>
            <pc:docMk/>
            <pc:sldMk cId="320463752" sldId="275"/>
            <ac:spMk id="2" creationId="{50C6DCC6-6E05-9242-4115-D56A3277C04D}"/>
          </ac:spMkLst>
        </pc:spChg>
        <pc:spChg chg="add mod">
          <ac:chgData name="DHRUV KESHRI" userId="f54754b99e6ab5c1" providerId="LiveId" clId="{5CF0F215-8477-49B4-9B7F-ACCE8B298121}" dt="2025-12-05T11:56:09.124" v="2099" actId="14100"/>
          <ac:spMkLst>
            <pc:docMk/>
            <pc:sldMk cId="320463752" sldId="275"/>
            <ac:spMk id="6" creationId="{D3E1A3EF-02F9-78B0-1E5A-13FCBE3F8546}"/>
          </ac:spMkLst>
        </pc:spChg>
        <pc:spChg chg="add mod">
          <ac:chgData name="DHRUV KESHRI" userId="f54754b99e6ab5c1" providerId="LiveId" clId="{5CF0F215-8477-49B4-9B7F-ACCE8B298121}" dt="2025-12-06T10:48:27.383" v="2603" actId="6549"/>
          <ac:spMkLst>
            <pc:docMk/>
            <pc:sldMk cId="320463752" sldId="275"/>
            <ac:spMk id="7" creationId="{CE17DC2F-8BB1-C87A-3317-8C67EDE18CC1}"/>
          </ac:spMkLst>
        </pc:spChg>
        <pc:graphicFrameChg chg="add mod">
          <ac:chgData name="DHRUV KESHRI" userId="f54754b99e6ab5c1" providerId="LiveId" clId="{5CF0F215-8477-49B4-9B7F-ACCE8B298121}" dt="2025-12-06T20:14:37.951" v="2935" actId="403"/>
          <ac:graphicFrameMkLst>
            <pc:docMk/>
            <pc:sldMk cId="320463752" sldId="275"/>
            <ac:graphicFrameMk id="3" creationId="{4701A564-CB26-DC35-8628-F48179518B06}"/>
          </ac:graphicFrameMkLst>
        </pc:graphicFrameChg>
        <pc:picChg chg="add mod">
          <ac:chgData name="DHRUV KESHRI" userId="f54754b99e6ab5c1" providerId="LiveId" clId="{5CF0F215-8477-49B4-9B7F-ACCE8B298121}" dt="2025-12-04T13:56:33.967" v="1168"/>
          <ac:picMkLst>
            <pc:docMk/>
            <pc:sldMk cId="320463752" sldId="275"/>
            <ac:picMk id="4" creationId="{BD133834-5DF6-9EDB-6F37-2787AF5F6FF7}"/>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F54754B99E6AB5C1/Documents/sql.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RCB</a:t>
            </a:r>
            <a:r>
              <a:rPr lang="en-IN" baseline="0" dirty="0"/>
              <a:t> Seasonal Performance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4502348118029371"/>
          <c:y val="0.13178079108844706"/>
          <c:w val="0.85497651881970627"/>
          <c:h val="0.72612811621038498"/>
        </c:manualLayout>
      </c:layout>
      <c:barChart>
        <c:barDir val="col"/>
        <c:grouping val="clustered"/>
        <c:varyColors val="0"/>
        <c:ser>
          <c:idx val="0"/>
          <c:order val="0"/>
          <c:tx>
            <c:strRef>
              <c:f>Sheet1!$AI$18</c:f>
              <c:strCache>
                <c:ptCount val="1"/>
                <c:pt idx="0">
                  <c:v>matches_played</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Sheet1!$AH$19:$AH$22</c:f>
              <c:numCache>
                <c:formatCode>General</c:formatCode>
                <c:ptCount val="4"/>
                <c:pt idx="0">
                  <c:v>2013</c:v>
                </c:pt>
                <c:pt idx="1">
                  <c:v>2014</c:v>
                </c:pt>
                <c:pt idx="2">
                  <c:v>2015</c:v>
                </c:pt>
                <c:pt idx="3">
                  <c:v>2016</c:v>
                </c:pt>
              </c:numCache>
            </c:numRef>
          </c:cat>
          <c:val>
            <c:numRef>
              <c:f>Sheet1!$AI$19:$AI$22</c:f>
              <c:numCache>
                <c:formatCode>General</c:formatCode>
                <c:ptCount val="4"/>
                <c:pt idx="0">
                  <c:v>16</c:v>
                </c:pt>
                <c:pt idx="1">
                  <c:v>14</c:v>
                </c:pt>
                <c:pt idx="2">
                  <c:v>16</c:v>
                </c:pt>
                <c:pt idx="3">
                  <c:v>16</c:v>
                </c:pt>
              </c:numCache>
            </c:numRef>
          </c:val>
          <c:extLst>
            <c:ext xmlns:c16="http://schemas.microsoft.com/office/drawing/2014/chart" uri="{C3380CC4-5D6E-409C-BE32-E72D297353CC}">
              <c16:uniqueId val="{00000000-45E2-41DF-84BB-9A9F201DFF40}"/>
            </c:ext>
          </c:extLst>
        </c:ser>
        <c:ser>
          <c:idx val="1"/>
          <c:order val="1"/>
          <c:tx>
            <c:strRef>
              <c:f>Sheet1!$AJ$18</c:f>
              <c:strCache>
                <c:ptCount val="1"/>
                <c:pt idx="0">
                  <c:v>matches_won</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Sheet1!$AH$19:$AH$22</c:f>
              <c:numCache>
                <c:formatCode>General</c:formatCode>
                <c:ptCount val="4"/>
                <c:pt idx="0">
                  <c:v>2013</c:v>
                </c:pt>
                <c:pt idx="1">
                  <c:v>2014</c:v>
                </c:pt>
                <c:pt idx="2">
                  <c:v>2015</c:v>
                </c:pt>
                <c:pt idx="3">
                  <c:v>2016</c:v>
                </c:pt>
              </c:numCache>
            </c:numRef>
          </c:cat>
          <c:val>
            <c:numRef>
              <c:f>Sheet1!$AJ$19:$AJ$22</c:f>
              <c:numCache>
                <c:formatCode>General</c:formatCode>
                <c:ptCount val="4"/>
                <c:pt idx="0">
                  <c:v>9</c:v>
                </c:pt>
                <c:pt idx="1">
                  <c:v>5</c:v>
                </c:pt>
                <c:pt idx="2">
                  <c:v>8</c:v>
                </c:pt>
                <c:pt idx="3">
                  <c:v>9</c:v>
                </c:pt>
              </c:numCache>
            </c:numRef>
          </c:val>
          <c:extLst>
            <c:ext xmlns:c16="http://schemas.microsoft.com/office/drawing/2014/chart" uri="{C3380CC4-5D6E-409C-BE32-E72D297353CC}">
              <c16:uniqueId val="{00000001-45E2-41DF-84BB-9A9F201DFF40}"/>
            </c:ext>
          </c:extLst>
        </c:ser>
        <c:dLbls>
          <c:dLblPos val="outEnd"/>
          <c:showLegendKey val="0"/>
          <c:showVal val="1"/>
          <c:showCatName val="0"/>
          <c:showSerName val="0"/>
          <c:showPercent val="0"/>
          <c:showBubbleSize val="0"/>
        </c:dLbls>
        <c:gapWidth val="219"/>
        <c:overlap val="-27"/>
        <c:axId val="1653245183"/>
        <c:axId val="1653241343"/>
      </c:barChart>
      <c:catAx>
        <c:axId val="1653245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3241343"/>
        <c:crosses val="autoZero"/>
        <c:auto val="1"/>
        <c:lblAlgn val="ctr"/>
        <c:lblOffset val="100"/>
        <c:noMultiLvlLbl val="0"/>
      </c:catAx>
      <c:valAx>
        <c:axId val="16532413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32451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[sql.xlsx]Sheet1!PivotTable1</c:name>
    <c:fmtId val="3"/>
  </c:pivotSource>
  <c:chart>
    <c:title>
      <c:tx>
        <c:rich>
          <a:bodyPr rot="0" spcFirstLastPara="1" vertOverflow="ellipsis" vert="horz" wrap="square" anchor="ctr" anchorCtr="1"/>
          <a:lstStyle/>
          <a:p>
            <a:pPr algn="ctr" rtl="0">
              <a:defRPr sz="2000" b="0" i="0" u="none" strike="noStrike" kern="1200" spc="0" baseline="0">
                <a:solidFill>
                  <a:schemeClr val="tx1">
                    <a:lumMod val="65000"/>
                    <a:lumOff val="35000"/>
                  </a:schemeClr>
                </a:solidFill>
                <a:latin typeface="+mn-lt"/>
                <a:ea typeface="+mn-ea"/>
                <a:cs typeface="+mn-cs"/>
              </a:defRPr>
            </a:pPr>
            <a:r>
              <a:rPr lang="en-IN" sz="2000"/>
              <a:t>Top Batting Average</a:t>
            </a:r>
          </a:p>
          <a:p>
            <a:pPr algn="ctr" rtl="0">
              <a:defRPr sz="2000"/>
            </a:pPr>
            <a:endParaRPr lang="en-IN" sz="2000"/>
          </a:p>
        </c:rich>
      </c:tx>
      <c:overlay val="0"/>
      <c:spPr>
        <a:noFill/>
        <a:ln>
          <a:noFill/>
        </a:ln>
        <a:effectLst/>
      </c:spPr>
      <c:txPr>
        <a:bodyPr rot="0" spcFirstLastPara="1" vertOverflow="ellipsis" vert="horz" wrap="square" anchor="ctr" anchorCtr="1"/>
        <a:lstStyle/>
        <a:p>
          <a:pPr algn="ctr" rtl="0">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1674103237095364E-2"/>
          <c:y val="0.14723105430607791"/>
          <c:w val="0.87777034120734909"/>
          <c:h val="0.67957805780727909"/>
        </c:manualLayout>
      </c:layout>
      <c:barChart>
        <c:barDir val="col"/>
        <c:grouping val="clustered"/>
        <c:varyColors val="0"/>
        <c:ser>
          <c:idx val="0"/>
          <c:order val="0"/>
          <c:tx>
            <c:strRef>
              <c:f>Sheet1!$F$26</c:f>
              <c:strCache>
                <c:ptCount val="1"/>
                <c:pt idx="0">
                  <c:v>Total</c:v>
                </c:pt>
              </c:strCache>
            </c:strRef>
          </c:tx>
          <c:spPr>
            <a:solidFill>
              <a:srgbClr val="C00000"/>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Sheet1!$E$27:$E$37</c:f>
              <c:strCache>
                <c:ptCount val="10"/>
                <c:pt idx="0">
                  <c:v>LMP Simmons</c:v>
                </c:pt>
                <c:pt idx="1">
                  <c:v>V Kohli</c:v>
                </c:pt>
                <c:pt idx="2">
                  <c:v>DA Warner</c:v>
                </c:pt>
                <c:pt idx="3">
                  <c:v>AB de Villiers</c:v>
                </c:pt>
                <c:pt idx="4">
                  <c:v>MEK Hussey</c:v>
                </c:pt>
                <c:pt idx="5">
                  <c:v>CH Gayle</c:v>
                </c:pt>
                <c:pt idx="6">
                  <c:v>AM Rahane</c:v>
                </c:pt>
                <c:pt idx="7">
                  <c:v>SE Marsh</c:v>
                </c:pt>
                <c:pt idx="8">
                  <c:v>RV Uthappa</c:v>
                </c:pt>
                <c:pt idx="9">
                  <c:v>DR Smith</c:v>
                </c:pt>
              </c:strCache>
            </c:strRef>
          </c:cat>
          <c:val>
            <c:numRef>
              <c:f>Sheet1!$F$27:$F$37</c:f>
              <c:numCache>
                <c:formatCode>General</c:formatCode>
                <c:ptCount val="10"/>
                <c:pt idx="0">
                  <c:v>42.82</c:v>
                </c:pt>
                <c:pt idx="1">
                  <c:v>39.869999999999997</c:v>
                </c:pt>
                <c:pt idx="2">
                  <c:v>38.49</c:v>
                </c:pt>
                <c:pt idx="3">
                  <c:v>34.53</c:v>
                </c:pt>
                <c:pt idx="4">
                  <c:v>33.97</c:v>
                </c:pt>
                <c:pt idx="5">
                  <c:v>33.35</c:v>
                </c:pt>
                <c:pt idx="6">
                  <c:v>32.4</c:v>
                </c:pt>
                <c:pt idx="7">
                  <c:v>31.1</c:v>
                </c:pt>
                <c:pt idx="8">
                  <c:v>30.87</c:v>
                </c:pt>
                <c:pt idx="9">
                  <c:v>29.95</c:v>
                </c:pt>
              </c:numCache>
            </c:numRef>
          </c:val>
          <c:extLst>
            <c:ext xmlns:c16="http://schemas.microsoft.com/office/drawing/2014/chart" uri="{C3380CC4-5D6E-409C-BE32-E72D297353CC}">
              <c16:uniqueId val="{00000000-2C57-4152-83E1-B69F2D28055D}"/>
            </c:ext>
          </c:extLst>
        </c:ser>
        <c:dLbls>
          <c:showLegendKey val="0"/>
          <c:showVal val="0"/>
          <c:showCatName val="0"/>
          <c:showSerName val="0"/>
          <c:showPercent val="0"/>
          <c:showBubbleSize val="0"/>
        </c:dLbls>
        <c:gapWidth val="219"/>
        <c:overlap val="-27"/>
        <c:axId val="1451428080"/>
        <c:axId val="1451428560"/>
      </c:barChart>
      <c:catAx>
        <c:axId val="1451428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51428560"/>
        <c:crosses val="autoZero"/>
        <c:auto val="1"/>
        <c:lblAlgn val="ctr"/>
        <c:lblOffset val="100"/>
        <c:noMultiLvlLbl val="0"/>
      </c:catAx>
      <c:valAx>
        <c:axId val="1451428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514280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Top Wicket Takers</a:t>
            </a:r>
            <a:endParaRPr lang="en-IN"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Sheet1!$A$14:$A$23</c:f>
              <c:strCache>
                <c:ptCount val="10"/>
                <c:pt idx="0">
                  <c:v>DJ Bravo</c:v>
                </c:pt>
                <c:pt idx="1">
                  <c:v>MM Sharma</c:v>
                </c:pt>
                <c:pt idx="2">
                  <c:v>B Kumar</c:v>
                </c:pt>
                <c:pt idx="3">
                  <c:v>SP Narine</c:v>
                </c:pt>
                <c:pt idx="4">
                  <c:v>Harbhajan Singh</c:v>
                </c:pt>
                <c:pt idx="5">
                  <c:v>SL Malinga</c:v>
                </c:pt>
                <c:pt idx="6">
                  <c:v>JP Faulkner</c:v>
                </c:pt>
                <c:pt idx="7">
                  <c:v>Sandeep Sharma</c:v>
                </c:pt>
                <c:pt idx="8">
                  <c:v>YS Chahal</c:v>
                </c:pt>
                <c:pt idx="9">
                  <c:v>A Nehra</c:v>
                </c:pt>
              </c:strCache>
            </c:strRef>
          </c:cat>
          <c:val>
            <c:numRef>
              <c:f>Sheet1!$B$14:$B$23</c:f>
              <c:numCache>
                <c:formatCode>General</c:formatCode>
                <c:ptCount val="10"/>
                <c:pt idx="0">
                  <c:v>81</c:v>
                </c:pt>
                <c:pt idx="1">
                  <c:v>78</c:v>
                </c:pt>
                <c:pt idx="2">
                  <c:v>77</c:v>
                </c:pt>
                <c:pt idx="3">
                  <c:v>68</c:v>
                </c:pt>
                <c:pt idx="4">
                  <c:v>67</c:v>
                </c:pt>
                <c:pt idx="5">
                  <c:v>66</c:v>
                </c:pt>
                <c:pt idx="6">
                  <c:v>61</c:v>
                </c:pt>
                <c:pt idx="7">
                  <c:v>59</c:v>
                </c:pt>
                <c:pt idx="8">
                  <c:v>58</c:v>
                </c:pt>
                <c:pt idx="9">
                  <c:v>57</c:v>
                </c:pt>
              </c:numCache>
            </c:numRef>
          </c:val>
          <c:extLst>
            <c:ext xmlns:c16="http://schemas.microsoft.com/office/drawing/2014/chart" uri="{C3380CC4-5D6E-409C-BE32-E72D297353CC}">
              <c16:uniqueId val="{00000000-FFFC-4DB0-81C1-2BC1C2E3D0D8}"/>
            </c:ext>
          </c:extLst>
        </c:ser>
        <c:dLbls>
          <c:dLblPos val="outEnd"/>
          <c:showLegendKey val="0"/>
          <c:showVal val="1"/>
          <c:showCatName val="0"/>
          <c:showSerName val="0"/>
          <c:showPercent val="0"/>
          <c:showBubbleSize val="0"/>
        </c:dLbls>
        <c:gapWidth val="219"/>
        <c:axId val="419444607"/>
        <c:axId val="144095343"/>
      </c:barChart>
      <c:catAx>
        <c:axId val="41944460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4095343"/>
        <c:crosses val="autoZero"/>
        <c:auto val="1"/>
        <c:lblAlgn val="ctr"/>
        <c:lblOffset val="100"/>
        <c:noMultiLvlLbl val="0"/>
      </c:catAx>
      <c:valAx>
        <c:axId val="1440953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419444607"/>
        <c:crosses val="autoZero"/>
        <c:crossBetween val="between"/>
      </c:valAx>
      <c:spPr>
        <a:noFill/>
        <a:ln>
          <a:noFill/>
        </a:ln>
        <a:effectLst/>
      </c:spPr>
    </c:plotArea>
    <c:plotVisOnly val="1"/>
    <c:dispBlanksAs val="gap"/>
    <c:showDLblsOverMax val="0"/>
  </c:chart>
  <c:spPr>
    <a:noFill/>
    <a:ln>
      <a:noFill/>
    </a:ln>
    <a:effectLst/>
  </c:spPr>
  <c:txPr>
    <a:bodyPr/>
    <a:lstStyle/>
    <a:p>
      <a:pPr>
        <a:defRPr sz="105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All-Rounder Performers</a:t>
            </a:r>
            <a:endParaRPr lang="en-IN" sz="1800"/>
          </a:p>
        </c:rich>
      </c:tx>
      <c:layout>
        <c:manualLayout>
          <c:xMode val="edge"/>
          <c:yMode val="edge"/>
          <c:x val="0.27071944373838808"/>
          <c:y val="2.8079132099553285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0799784169716221"/>
          <c:y val="0.12839841414207398"/>
          <c:w val="0.81530700479537266"/>
          <c:h val="0.61631021712585865"/>
        </c:manualLayout>
      </c:layout>
      <c:barChart>
        <c:barDir val="col"/>
        <c:grouping val="clustered"/>
        <c:varyColors val="0"/>
        <c:ser>
          <c:idx val="0"/>
          <c:order val="0"/>
          <c:tx>
            <c:strRef>
              <c:f>Sheet1!$AH$25</c:f>
              <c:strCache>
                <c:ptCount val="1"/>
                <c:pt idx="0">
                  <c:v>Total_Runs</c:v>
                </c:pt>
              </c:strCache>
            </c:strRef>
          </c:tx>
          <c:spPr>
            <a:solidFill>
              <a:srgbClr val="C00000"/>
            </a:solidFill>
            <a:ln>
              <a:noFill/>
            </a:ln>
            <a:effectLst/>
          </c:spPr>
          <c:invertIfNegative val="0"/>
          <c:dLbls>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Sheet1!$AG$26:$AG$32</c:f>
              <c:strCache>
                <c:ptCount val="7"/>
                <c:pt idx="0">
                  <c:v>DR Smith</c:v>
                </c:pt>
                <c:pt idx="1">
                  <c:v>KA Pollard</c:v>
                </c:pt>
                <c:pt idx="2">
                  <c:v>SR Watson</c:v>
                </c:pt>
                <c:pt idx="3">
                  <c:v>RA Jadeja</c:v>
                </c:pt>
                <c:pt idx="4">
                  <c:v>MC Henriques</c:v>
                </c:pt>
                <c:pt idx="5">
                  <c:v>STR Binny</c:v>
                </c:pt>
                <c:pt idx="6">
                  <c:v>AD Russell</c:v>
                </c:pt>
              </c:strCache>
            </c:strRef>
          </c:cat>
          <c:val>
            <c:numRef>
              <c:f>Sheet1!$AH$26:$AH$32</c:f>
              <c:numCache>
                <c:formatCode>General</c:formatCode>
                <c:ptCount val="7"/>
                <c:pt idx="0">
                  <c:v>1707</c:v>
                </c:pt>
                <c:pt idx="1">
                  <c:v>1320</c:v>
                </c:pt>
                <c:pt idx="2">
                  <c:v>1315</c:v>
                </c:pt>
                <c:pt idx="3">
                  <c:v>670</c:v>
                </c:pt>
                <c:pt idx="4">
                  <c:v>643</c:v>
                </c:pt>
                <c:pt idx="5">
                  <c:v>553</c:v>
                </c:pt>
                <c:pt idx="6">
                  <c:v>527</c:v>
                </c:pt>
              </c:numCache>
            </c:numRef>
          </c:val>
          <c:extLst>
            <c:ext xmlns:c16="http://schemas.microsoft.com/office/drawing/2014/chart" uri="{C3380CC4-5D6E-409C-BE32-E72D297353CC}">
              <c16:uniqueId val="{00000000-F48A-4CBC-8E84-A065C5A8CDBD}"/>
            </c:ext>
          </c:extLst>
        </c:ser>
        <c:dLbls>
          <c:showLegendKey val="0"/>
          <c:showVal val="0"/>
          <c:showCatName val="0"/>
          <c:showSerName val="0"/>
          <c:showPercent val="0"/>
          <c:showBubbleSize val="0"/>
        </c:dLbls>
        <c:gapWidth val="219"/>
        <c:overlap val="-27"/>
        <c:axId val="1102374656"/>
        <c:axId val="1102372736"/>
      </c:barChart>
      <c:lineChart>
        <c:grouping val="standard"/>
        <c:varyColors val="0"/>
        <c:ser>
          <c:idx val="1"/>
          <c:order val="1"/>
          <c:tx>
            <c:strRef>
              <c:f>Sheet1!$AI$25</c:f>
              <c:strCache>
                <c:ptCount val="1"/>
                <c:pt idx="0">
                  <c:v>Total_Wickets</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Sheet1!$AG$26:$AG$32</c:f>
              <c:strCache>
                <c:ptCount val="7"/>
                <c:pt idx="0">
                  <c:v>DR Smith</c:v>
                </c:pt>
                <c:pt idx="1">
                  <c:v>KA Pollard</c:v>
                </c:pt>
                <c:pt idx="2">
                  <c:v>SR Watson</c:v>
                </c:pt>
                <c:pt idx="3">
                  <c:v>RA Jadeja</c:v>
                </c:pt>
                <c:pt idx="4">
                  <c:v>MC Henriques</c:v>
                </c:pt>
                <c:pt idx="5">
                  <c:v>STR Binny</c:v>
                </c:pt>
                <c:pt idx="6">
                  <c:v>AD Russell</c:v>
                </c:pt>
              </c:strCache>
            </c:strRef>
          </c:cat>
          <c:val>
            <c:numRef>
              <c:f>Sheet1!$AI$26:$AI$32</c:f>
              <c:numCache>
                <c:formatCode>General</c:formatCode>
                <c:ptCount val="7"/>
                <c:pt idx="0">
                  <c:v>15</c:v>
                </c:pt>
                <c:pt idx="1">
                  <c:v>19</c:v>
                </c:pt>
                <c:pt idx="2">
                  <c:v>54</c:v>
                </c:pt>
                <c:pt idx="3">
                  <c:v>56</c:v>
                </c:pt>
                <c:pt idx="4">
                  <c:v>37</c:v>
                </c:pt>
                <c:pt idx="5">
                  <c:v>20</c:v>
                </c:pt>
                <c:pt idx="6">
                  <c:v>35</c:v>
                </c:pt>
              </c:numCache>
            </c:numRef>
          </c:val>
          <c:smooth val="0"/>
          <c:extLst>
            <c:ext xmlns:c16="http://schemas.microsoft.com/office/drawing/2014/chart" uri="{C3380CC4-5D6E-409C-BE32-E72D297353CC}">
              <c16:uniqueId val="{00000001-F48A-4CBC-8E84-A065C5A8CDBD}"/>
            </c:ext>
          </c:extLst>
        </c:ser>
        <c:dLbls>
          <c:showLegendKey val="0"/>
          <c:showVal val="0"/>
          <c:showCatName val="0"/>
          <c:showSerName val="0"/>
          <c:showPercent val="0"/>
          <c:showBubbleSize val="0"/>
        </c:dLbls>
        <c:marker val="1"/>
        <c:smooth val="0"/>
        <c:axId val="1618868336"/>
        <c:axId val="1517539488"/>
      </c:lineChart>
      <c:catAx>
        <c:axId val="1102374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02372736"/>
        <c:crosses val="autoZero"/>
        <c:auto val="1"/>
        <c:lblAlgn val="ctr"/>
        <c:lblOffset val="100"/>
        <c:noMultiLvlLbl val="0"/>
      </c:catAx>
      <c:valAx>
        <c:axId val="11023727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02374656"/>
        <c:crosses val="autoZero"/>
        <c:crossBetween val="between"/>
      </c:valAx>
      <c:valAx>
        <c:axId val="151753948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618868336"/>
        <c:crosses val="max"/>
        <c:crossBetween val="between"/>
      </c:valAx>
      <c:catAx>
        <c:axId val="1618868336"/>
        <c:scaling>
          <c:orientation val="minMax"/>
        </c:scaling>
        <c:delete val="1"/>
        <c:axPos val="b"/>
        <c:numFmt formatCode="General" sourceLinked="1"/>
        <c:majorTickMark val="out"/>
        <c:minorTickMark val="none"/>
        <c:tickLblPos val="nextTo"/>
        <c:crossAx val="15175394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40" b="0" i="0" u="none" strike="noStrike" kern="1200" spc="0" baseline="0">
                <a:solidFill>
                  <a:schemeClr val="tx1">
                    <a:lumMod val="65000"/>
                    <a:lumOff val="35000"/>
                  </a:schemeClr>
                </a:solidFill>
                <a:latin typeface="+mn-lt"/>
                <a:ea typeface="+mn-ea"/>
                <a:cs typeface="+mn-cs"/>
              </a:defRPr>
            </a:pPr>
            <a:r>
              <a:rPr lang="en-IN"/>
              <a:t>Top Batsmen</a:t>
            </a:r>
          </a:p>
          <a:p>
            <a:pPr algn="ctr" rtl="0">
              <a:defRPr/>
            </a:pPr>
            <a:endParaRPr lang="en-IN"/>
          </a:p>
        </c:rich>
      </c:tx>
      <c:overlay val="0"/>
      <c:spPr>
        <a:noFill/>
        <a:ln>
          <a:noFill/>
        </a:ln>
        <a:effectLst/>
      </c:spPr>
      <c:txPr>
        <a:bodyPr rot="0" spcFirstLastPara="1" vertOverflow="ellipsis" vert="horz" wrap="square" anchor="ctr" anchorCtr="1"/>
        <a:lstStyle/>
        <a:p>
          <a:pPr algn="ctr" rtl="0">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586690728626212"/>
          <c:y val="9.0907045154812932E-2"/>
          <c:w val="0.85470816383745474"/>
          <c:h val="0.66785882192494905"/>
        </c:manualLayout>
      </c:layout>
      <c:barChart>
        <c:barDir val="col"/>
        <c:grouping val="clustered"/>
        <c:varyColors val="0"/>
        <c:ser>
          <c:idx val="1"/>
          <c:order val="0"/>
          <c:tx>
            <c:strRef>
              <c:f>Sheet2!$AB$5</c:f>
              <c:strCache>
                <c:ptCount val="1"/>
                <c:pt idx="0">
                  <c:v>Runs_Scored</c:v>
                </c:pt>
              </c:strCache>
            </c:strRef>
          </c:tx>
          <c:spPr>
            <a:solidFill>
              <a:srgbClr val="C0000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Sheet2!$Z$6:$Z$15</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Sheet2!$AB$6:$AB$15</c:f>
              <c:numCache>
                <c:formatCode>General</c:formatCode>
                <c:ptCount val="10"/>
                <c:pt idx="0">
                  <c:v>2472</c:v>
                </c:pt>
                <c:pt idx="1">
                  <c:v>2348</c:v>
                </c:pt>
                <c:pt idx="2">
                  <c:v>1968</c:v>
                </c:pt>
                <c:pt idx="3">
                  <c:v>1899</c:v>
                </c:pt>
                <c:pt idx="4">
                  <c:v>1852</c:v>
                </c:pt>
                <c:pt idx="5">
                  <c:v>1847</c:v>
                </c:pt>
                <c:pt idx="6">
                  <c:v>1844</c:v>
                </c:pt>
                <c:pt idx="7">
                  <c:v>1707</c:v>
                </c:pt>
                <c:pt idx="8">
                  <c:v>1634</c:v>
                </c:pt>
                <c:pt idx="9">
                  <c:v>1569</c:v>
                </c:pt>
              </c:numCache>
            </c:numRef>
          </c:val>
          <c:extLst>
            <c:ext xmlns:c16="http://schemas.microsoft.com/office/drawing/2014/chart" uri="{C3380CC4-5D6E-409C-BE32-E72D297353CC}">
              <c16:uniqueId val="{00000000-BE4A-40A2-AFDC-713301BE2EEE}"/>
            </c:ext>
          </c:extLst>
        </c:ser>
        <c:dLbls>
          <c:showLegendKey val="0"/>
          <c:showVal val="1"/>
          <c:showCatName val="0"/>
          <c:showSerName val="0"/>
          <c:showPercent val="0"/>
          <c:showBubbleSize val="0"/>
        </c:dLbls>
        <c:gapWidth val="219"/>
        <c:overlap val="-27"/>
        <c:axId val="1829355600"/>
        <c:axId val="1829367120"/>
      </c:barChart>
      <c:lineChart>
        <c:grouping val="standard"/>
        <c:varyColors val="0"/>
        <c:ser>
          <c:idx val="2"/>
          <c:order val="1"/>
          <c:tx>
            <c:strRef>
              <c:f>Sheet2!$AC$5</c:f>
              <c:strCache>
                <c:ptCount val="1"/>
                <c:pt idx="0">
                  <c:v>Strike_Rate</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Sheet2!$Z$6:$Z$15</c:f>
              <c:strCache>
                <c:ptCount val="10"/>
                <c:pt idx="0">
                  <c:v>V Kohli</c:v>
                </c:pt>
                <c:pt idx="1">
                  <c:v>DA Warner</c:v>
                </c:pt>
                <c:pt idx="2">
                  <c:v>AB de Villiers</c:v>
                </c:pt>
                <c:pt idx="3">
                  <c:v>RG Sharma</c:v>
                </c:pt>
                <c:pt idx="4">
                  <c:v>RV Uthappa</c:v>
                </c:pt>
                <c:pt idx="5">
                  <c:v>AM Rahane</c:v>
                </c:pt>
                <c:pt idx="6">
                  <c:v>SK Raina</c:v>
                </c:pt>
                <c:pt idx="7">
                  <c:v>DR Smith</c:v>
                </c:pt>
                <c:pt idx="8">
                  <c:v>CH Gayle</c:v>
                </c:pt>
                <c:pt idx="9">
                  <c:v>G Gambhir</c:v>
                </c:pt>
              </c:strCache>
            </c:strRef>
          </c:cat>
          <c:val>
            <c:numRef>
              <c:f>Sheet2!$AC$6:$AC$15</c:f>
              <c:numCache>
                <c:formatCode>0</c:formatCode>
                <c:ptCount val="10"/>
                <c:pt idx="0" formatCode="General">
                  <c:v>136</c:v>
                </c:pt>
                <c:pt idx="1">
                  <c:v>141</c:v>
                </c:pt>
                <c:pt idx="2" formatCode="General">
                  <c:v>164</c:v>
                </c:pt>
                <c:pt idx="3" formatCode="General">
                  <c:v>133</c:v>
                </c:pt>
                <c:pt idx="4" formatCode="General">
                  <c:v>127</c:v>
                </c:pt>
                <c:pt idx="5" formatCode="General">
                  <c:v>117</c:v>
                </c:pt>
                <c:pt idx="6" formatCode="General">
                  <c:v>134</c:v>
                </c:pt>
                <c:pt idx="7" formatCode="General">
                  <c:v>127</c:v>
                </c:pt>
                <c:pt idx="8" formatCode="General">
                  <c:v>137</c:v>
                </c:pt>
                <c:pt idx="9" formatCode="General">
                  <c:v>115</c:v>
                </c:pt>
              </c:numCache>
            </c:numRef>
          </c:val>
          <c:smooth val="0"/>
          <c:extLst>
            <c:ext xmlns:c16="http://schemas.microsoft.com/office/drawing/2014/chart" uri="{C3380CC4-5D6E-409C-BE32-E72D297353CC}">
              <c16:uniqueId val="{00000001-BE4A-40A2-AFDC-713301BE2EEE}"/>
            </c:ext>
          </c:extLst>
        </c:ser>
        <c:dLbls>
          <c:showLegendKey val="0"/>
          <c:showVal val="1"/>
          <c:showCatName val="0"/>
          <c:showSerName val="0"/>
          <c:showPercent val="0"/>
          <c:showBubbleSize val="0"/>
        </c:dLbls>
        <c:marker val="1"/>
        <c:smooth val="0"/>
        <c:axId val="1829354160"/>
        <c:axId val="1829362320"/>
      </c:lineChart>
      <c:catAx>
        <c:axId val="182935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29367120"/>
        <c:crosses val="autoZero"/>
        <c:auto val="1"/>
        <c:lblAlgn val="ctr"/>
        <c:lblOffset val="100"/>
        <c:noMultiLvlLbl val="0"/>
      </c:catAx>
      <c:valAx>
        <c:axId val="182936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29355600"/>
        <c:crosses val="autoZero"/>
        <c:crossBetween val="between"/>
      </c:valAx>
      <c:valAx>
        <c:axId val="182936232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29354160"/>
        <c:crosses val="max"/>
        <c:crossBetween val="between"/>
      </c:valAx>
      <c:catAx>
        <c:axId val="1829354160"/>
        <c:scaling>
          <c:orientation val="minMax"/>
        </c:scaling>
        <c:delete val="1"/>
        <c:axPos val="b"/>
        <c:numFmt formatCode="General" sourceLinked="1"/>
        <c:majorTickMark val="out"/>
        <c:minorTickMark val="none"/>
        <c:tickLblPos val="nextTo"/>
        <c:crossAx val="182936232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[sql.xlsx]Sheet1!PivotTable22</c:name>
    <c:fmtId val="18"/>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IN" sz="1800"/>
              <a:t>Win Rates By Toss Decision</a:t>
            </a:r>
          </a:p>
        </c:rich>
      </c:tx>
      <c:layout>
        <c:manualLayout>
          <c:xMode val="edge"/>
          <c:yMode val="edge"/>
          <c:x val="0.23595630084162209"/>
          <c:y val="1.3078057881630601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47695681203385598"/>
          <c:y val="0.11285931449145611"/>
          <c:w val="0.41332402774598831"/>
          <c:h val="0.8249760424396364"/>
        </c:manualLayout>
      </c:layout>
      <c:barChart>
        <c:barDir val="bar"/>
        <c:grouping val="percentStacked"/>
        <c:varyColors val="0"/>
        <c:ser>
          <c:idx val="0"/>
          <c:order val="0"/>
          <c:tx>
            <c:strRef>
              <c:f>Sheet1!$K$28:$K$29</c:f>
              <c:strCache>
                <c:ptCount val="1"/>
                <c:pt idx="0">
                  <c:v>bat</c:v>
                </c:pt>
              </c:strCache>
            </c:strRef>
          </c:tx>
          <c:spPr>
            <a:solidFill>
              <a:srgbClr val="C00000"/>
            </a:solidFill>
            <a:ln>
              <a:noFill/>
            </a:ln>
            <a:effectLst/>
          </c:spPr>
          <c:invertIfNegative val="0"/>
          <c:dLbls>
            <c:spPr>
              <a:noFill/>
              <a:ln>
                <a:noFill/>
              </a:ln>
              <a:effectLst/>
            </c:spPr>
            <c:txPr>
              <a:bodyPr rot="0" spcFirstLastPara="1" vertOverflow="ellipsis" vert="horz" wrap="square" anchor="ctr" anchorCtr="1"/>
              <a:lstStyle/>
              <a:p>
                <a:pPr>
                  <a:lnSpc>
                    <a:spcPct val="300000"/>
                  </a:lnSpc>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Sheet1!$J$30:$J$53</c:f>
              <c:strCache>
                <c:ptCount val="23"/>
                <c:pt idx="0">
                  <c:v>Barabati Stadium</c:v>
                </c:pt>
                <c:pt idx="1">
                  <c:v>Brabourne Stadium</c:v>
                </c:pt>
                <c:pt idx="2">
                  <c:v>Dr. Y.S. Rajasekhara Reddy ACA-VDCA Cricket Stadium</c:v>
                </c:pt>
                <c:pt idx="3">
                  <c:v>Dubai International Cricket Stadium</c:v>
                </c:pt>
                <c:pt idx="4">
                  <c:v>Eden Gardens</c:v>
                </c:pt>
                <c:pt idx="5">
                  <c:v>Feroz Shah Kotla</c:v>
                </c:pt>
                <c:pt idx="6">
                  <c:v>Green Park</c:v>
                </c:pt>
                <c:pt idx="7">
                  <c:v>Himachal Pradesh Cricket Association Stadium</c:v>
                </c:pt>
                <c:pt idx="8">
                  <c:v>JSCA International Stadium Complex</c:v>
                </c:pt>
                <c:pt idx="9">
                  <c:v>M Chinnaswamy Stadium</c:v>
                </c:pt>
                <c:pt idx="10">
                  <c:v>MA Chidambaram Stadium, Chepauk</c:v>
                </c:pt>
                <c:pt idx="11">
                  <c:v>Maharashtra Cricket Association Stadium</c:v>
                </c:pt>
                <c:pt idx="12">
                  <c:v>Punjab Cricket Association IS Bindra Stadium, Mohali</c:v>
                </c:pt>
                <c:pt idx="13">
                  <c:v>Punjab Cricket Association Stadium, Mohali</c:v>
                </c:pt>
                <c:pt idx="14">
                  <c:v>Rajiv Gandhi International Stadium, Uppal</c:v>
                </c:pt>
                <c:pt idx="15">
                  <c:v>Sardar Patel Stadium, Motera</c:v>
                </c:pt>
                <c:pt idx="16">
                  <c:v>Saurashtra Cricket Association Stadium</c:v>
                </c:pt>
                <c:pt idx="17">
                  <c:v>Sawai Mansingh Stadium</c:v>
                </c:pt>
                <c:pt idx="18">
                  <c:v>Shaheed Veer Narayan Singh International Stadium</c:v>
                </c:pt>
                <c:pt idx="19">
                  <c:v>Sharjah Cricket Stadium</c:v>
                </c:pt>
                <c:pt idx="20">
                  <c:v>Sheikh Zayed Stadium</c:v>
                </c:pt>
                <c:pt idx="21">
                  <c:v>Subrata Roy Sahara Stadium</c:v>
                </c:pt>
                <c:pt idx="22">
                  <c:v>Wankhede Stadium</c:v>
                </c:pt>
              </c:strCache>
            </c:strRef>
          </c:cat>
          <c:val>
            <c:numRef>
              <c:f>Sheet1!$K$30:$K$53</c:f>
              <c:numCache>
                <c:formatCode>General</c:formatCode>
                <c:ptCount val="23"/>
                <c:pt idx="1">
                  <c:v>100</c:v>
                </c:pt>
                <c:pt idx="2">
                  <c:v>50</c:v>
                </c:pt>
                <c:pt idx="3">
                  <c:v>33.33</c:v>
                </c:pt>
                <c:pt idx="4">
                  <c:v>30</c:v>
                </c:pt>
                <c:pt idx="5">
                  <c:v>42.86</c:v>
                </c:pt>
                <c:pt idx="8">
                  <c:v>33.33</c:v>
                </c:pt>
                <c:pt idx="9">
                  <c:v>33.33</c:v>
                </c:pt>
                <c:pt idx="10">
                  <c:v>72.73</c:v>
                </c:pt>
                <c:pt idx="11">
                  <c:v>50</c:v>
                </c:pt>
                <c:pt idx="12">
                  <c:v>0</c:v>
                </c:pt>
                <c:pt idx="13">
                  <c:v>50</c:v>
                </c:pt>
                <c:pt idx="14">
                  <c:v>15.38</c:v>
                </c:pt>
                <c:pt idx="15">
                  <c:v>33.33</c:v>
                </c:pt>
                <c:pt idx="16">
                  <c:v>0</c:v>
                </c:pt>
                <c:pt idx="17">
                  <c:v>25</c:v>
                </c:pt>
                <c:pt idx="18">
                  <c:v>33.33</c:v>
                </c:pt>
                <c:pt idx="19">
                  <c:v>0</c:v>
                </c:pt>
                <c:pt idx="20">
                  <c:v>75</c:v>
                </c:pt>
                <c:pt idx="21">
                  <c:v>57.14</c:v>
                </c:pt>
                <c:pt idx="22">
                  <c:v>64.290000000000006</c:v>
                </c:pt>
              </c:numCache>
            </c:numRef>
          </c:val>
          <c:extLst>
            <c:ext xmlns:c16="http://schemas.microsoft.com/office/drawing/2014/chart" uri="{C3380CC4-5D6E-409C-BE32-E72D297353CC}">
              <c16:uniqueId val="{00000000-2087-4155-82A7-A09C8C835A37}"/>
            </c:ext>
          </c:extLst>
        </c:ser>
        <c:ser>
          <c:idx val="1"/>
          <c:order val="1"/>
          <c:tx>
            <c:strRef>
              <c:f>Sheet1!$L$28:$L$29</c:f>
              <c:strCache>
                <c:ptCount val="1"/>
                <c:pt idx="0">
                  <c:v>field</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lnSpc>
                    <a:spcPct val="300000"/>
                  </a:lnSpc>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Sheet1!$J$30:$J$53</c:f>
              <c:strCache>
                <c:ptCount val="23"/>
                <c:pt idx="0">
                  <c:v>Barabati Stadium</c:v>
                </c:pt>
                <c:pt idx="1">
                  <c:v>Brabourne Stadium</c:v>
                </c:pt>
                <c:pt idx="2">
                  <c:v>Dr. Y.S. Rajasekhara Reddy ACA-VDCA Cricket Stadium</c:v>
                </c:pt>
                <c:pt idx="3">
                  <c:v>Dubai International Cricket Stadium</c:v>
                </c:pt>
                <c:pt idx="4">
                  <c:v>Eden Gardens</c:v>
                </c:pt>
                <c:pt idx="5">
                  <c:v>Feroz Shah Kotla</c:v>
                </c:pt>
                <c:pt idx="6">
                  <c:v>Green Park</c:v>
                </c:pt>
                <c:pt idx="7">
                  <c:v>Himachal Pradesh Cricket Association Stadium</c:v>
                </c:pt>
                <c:pt idx="8">
                  <c:v>JSCA International Stadium Complex</c:v>
                </c:pt>
                <c:pt idx="9">
                  <c:v>M Chinnaswamy Stadium</c:v>
                </c:pt>
                <c:pt idx="10">
                  <c:v>MA Chidambaram Stadium, Chepauk</c:v>
                </c:pt>
                <c:pt idx="11">
                  <c:v>Maharashtra Cricket Association Stadium</c:v>
                </c:pt>
                <c:pt idx="12">
                  <c:v>Punjab Cricket Association IS Bindra Stadium, Mohali</c:v>
                </c:pt>
                <c:pt idx="13">
                  <c:v>Punjab Cricket Association Stadium, Mohali</c:v>
                </c:pt>
                <c:pt idx="14">
                  <c:v>Rajiv Gandhi International Stadium, Uppal</c:v>
                </c:pt>
                <c:pt idx="15">
                  <c:v>Sardar Patel Stadium, Motera</c:v>
                </c:pt>
                <c:pt idx="16">
                  <c:v>Saurashtra Cricket Association Stadium</c:v>
                </c:pt>
                <c:pt idx="17">
                  <c:v>Sawai Mansingh Stadium</c:v>
                </c:pt>
                <c:pt idx="18">
                  <c:v>Shaheed Veer Narayan Singh International Stadium</c:v>
                </c:pt>
                <c:pt idx="19">
                  <c:v>Sharjah Cricket Stadium</c:v>
                </c:pt>
                <c:pt idx="20">
                  <c:v>Sheikh Zayed Stadium</c:v>
                </c:pt>
                <c:pt idx="21">
                  <c:v>Subrata Roy Sahara Stadium</c:v>
                </c:pt>
                <c:pt idx="22">
                  <c:v>Wankhede Stadium</c:v>
                </c:pt>
              </c:strCache>
            </c:strRef>
          </c:cat>
          <c:val>
            <c:numRef>
              <c:f>Sheet1!$L$30:$L$53</c:f>
              <c:numCache>
                <c:formatCode>General</c:formatCode>
                <c:ptCount val="23"/>
                <c:pt idx="0">
                  <c:v>66.67</c:v>
                </c:pt>
                <c:pt idx="1">
                  <c:v>33.33</c:v>
                </c:pt>
                <c:pt idx="2">
                  <c:v>40</c:v>
                </c:pt>
                <c:pt idx="3">
                  <c:v>50</c:v>
                </c:pt>
                <c:pt idx="4">
                  <c:v>62.5</c:v>
                </c:pt>
                <c:pt idx="5">
                  <c:v>66.67</c:v>
                </c:pt>
                <c:pt idx="6">
                  <c:v>100</c:v>
                </c:pt>
                <c:pt idx="7">
                  <c:v>0</c:v>
                </c:pt>
                <c:pt idx="8">
                  <c:v>75</c:v>
                </c:pt>
                <c:pt idx="9">
                  <c:v>51.85</c:v>
                </c:pt>
                <c:pt idx="10">
                  <c:v>25</c:v>
                </c:pt>
                <c:pt idx="11">
                  <c:v>66.67</c:v>
                </c:pt>
                <c:pt idx="12">
                  <c:v>40</c:v>
                </c:pt>
                <c:pt idx="13">
                  <c:v>54.55</c:v>
                </c:pt>
                <c:pt idx="14">
                  <c:v>60</c:v>
                </c:pt>
                <c:pt idx="15">
                  <c:v>40</c:v>
                </c:pt>
                <c:pt idx="16">
                  <c:v>66.67</c:v>
                </c:pt>
                <c:pt idx="17">
                  <c:v>75</c:v>
                </c:pt>
                <c:pt idx="18">
                  <c:v>66.67</c:v>
                </c:pt>
                <c:pt idx="19">
                  <c:v>50</c:v>
                </c:pt>
                <c:pt idx="20">
                  <c:v>66.67</c:v>
                </c:pt>
                <c:pt idx="21">
                  <c:v>0</c:v>
                </c:pt>
                <c:pt idx="22">
                  <c:v>41.67</c:v>
                </c:pt>
              </c:numCache>
            </c:numRef>
          </c:val>
          <c:extLst>
            <c:ext xmlns:c16="http://schemas.microsoft.com/office/drawing/2014/chart" uri="{C3380CC4-5D6E-409C-BE32-E72D297353CC}">
              <c16:uniqueId val="{00000001-2087-4155-82A7-A09C8C835A37}"/>
            </c:ext>
          </c:extLst>
        </c:ser>
        <c:dLbls>
          <c:dLblPos val="ctr"/>
          <c:showLegendKey val="0"/>
          <c:showVal val="1"/>
          <c:showCatName val="0"/>
          <c:showSerName val="0"/>
          <c:showPercent val="0"/>
          <c:showBubbleSize val="0"/>
        </c:dLbls>
        <c:gapWidth val="219"/>
        <c:overlap val="100"/>
        <c:axId val="1319947280"/>
        <c:axId val="1319948240"/>
      </c:barChart>
      <c:catAx>
        <c:axId val="13199472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19948240"/>
        <c:crosses val="autoZero"/>
        <c:auto val="1"/>
        <c:lblAlgn val="ctr"/>
        <c:lblOffset val="100"/>
        <c:noMultiLvlLbl val="0"/>
      </c:catAx>
      <c:valAx>
        <c:axId val="1319948240"/>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19947280"/>
        <c:crosses val="autoZero"/>
        <c:crossBetween val="between"/>
      </c:valAx>
      <c:spPr>
        <a:noFill/>
        <a:ln>
          <a:noFill/>
        </a:ln>
        <a:effectLst/>
      </c:spPr>
    </c:plotArea>
    <c:legend>
      <c:legendPos val="r"/>
      <c:layout>
        <c:manualLayout>
          <c:xMode val="edge"/>
          <c:yMode val="edge"/>
          <c:x val="0.88351104244939549"/>
          <c:y val="0.48688003054704793"/>
          <c:w val="0.10604857695351749"/>
          <c:h val="0.10725861045943938"/>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IN" sz="2000"/>
              <a:t>Avg Win Margin By Team   </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1245516791653081"/>
          <c:y val="0.10499488230174089"/>
          <c:w val="0.55450551940178805"/>
          <c:h val="0.7517419095923179"/>
        </c:manualLayout>
      </c:layout>
      <c:barChart>
        <c:barDir val="bar"/>
        <c:grouping val="clustered"/>
        <c:varyColors val="0"/>
        <c:ser>
          <c:idx val="0"/>
          <c:order val="0"/>
          <c:tx>
            <c:strRef>
              <c:f>Sheet1!$X$53</c:f>
              <c:strCache>
                <c:ptCount val="1"/>
                <c:pt idx="0">
                  <c:v>Matches_Played</c:v>
                </c:pt>
              </c:strCache>
            </c:strRef>
          </c:tx>
          <c:spPr>
            <a:solidFill>
              <a:srgbClr val="C00000"/>
            </a:solidFill>
            <a:ln>
              <a:noFill/>
            </a:ln>
            <a:effectLst/>
          </c:spPr>
          <c:invertIfNegative val="0"/>
          <c:cat>
            <c:strRef>
              <c:f>Sheet1!$W$54:$W$64</c:f>
              <c:strCache>
                <c:ptCount val="11"/>
                <c:pt idx="0">
                  <c:v>Royal Challengers Bangalore</c:v>
                </c:pt>
                <c:pt idx="1">
                  <c:v>Chennai Super Kings</c:v>
                </c:pt>
                <c:pt idx="2">
                  <c:v>Mumbai Indians</c:v>
                </c:pt>
                <c:pt idx="3">
                  <c:v>Pune Warriors</c:v>
                </c:pt>
                <c:pt idx="4">
                  <c:v>Kings XI Punjab</c:v>
                </c:pt>
                <c:pt idx="5">
                  <c:v>Rising Pune Supergiants</c:v>
                </c:pt>
                <c:pt idx="6">
                  <c:v>Rajasthan Royals</c:v>
                </c:pt>
                <c:pt idx="7">
                  <c:v>Sunrisers Hyderabad</c:v>
                </c:pt>
                <c:pt idx="8">
                  <c:v>Kolkata Knight Riders</c:v>
                </c:pt>
                <c:pt idx="9">
                  <c:v>Delhi Daredevils</c:v>
                </c:pt>
                <c:pt idx="10">
                  <c:v>Gujarat Lions</c:v>
                </c:pt>
              </c:strCache>
            </c:strRef>
          </c:cat>
          <c:val>
            <c:numRef>
              <c:f>Sheet1!$X$54:$X$64</c:f>
              <c:numCache>
                <c:formatCode>General</c:formatCode>
                <c:ptCount val="11"/>
                <c:pt idx="0">
                  <c:v>31</c:v>
                </c:pt>
                <c:pt idx="1">
                  <c:v>32</c:v>
                </c:pt>
                <c:pt idx="2">
                  <c:v>37</c:v>
                </c:pt>
                <c:pt idx="3">
                  <c:v>4</c:v>
                </c:pt>
                <c:pt idx="4">
                  <c:v>27</c:v>
                </c:pt>
                <c:pt idx="5">
                  <c:v>5</c:v>
                </c:pt>
                <c:pt idx="6">
                  <c:v>25</c:v>
                </c:pt>
                <c:pt idx="7">
                  <c:v>34</c:v>
                </c:pt>
                <c:pt idx="8">
                  <c:v>32</c:v>
                </c:pt>
                <c:pt idx="9">
                  <c:v>17</c:v>
                </c:pt>
                <c:pt idx="10">
                  <c:v>9</c:v>
                </c:pt>
              </c:numCache>
            </c:numRef>
          </c:val>
          <c:extLst>
            <c:ext xmlns:c16="http://schemas.microsoft.com/office/drawing/2014/chart" uri="{C3380CC4-5D6E-409C-BE32-E72D297353CC}">
              <c16:uniqueId val="{00000000-A004-4A7B-BE98-5C27871B45D1}"/>
            </c:ext>
          </c:extLst>
        </c:ser>
        <c:ser>
          <c:idx val="1"/>
          <c:order val="1"/>
          <c:tx>
            <c:strRef>
              <c:f>Sheet1!$Y$53</c:f>
              <c:strCache>
                <c:ptCount val="1"/>
                <c:pt idx="0">
                  <c:v>Average_Win_Margin</c:v>
                </c:pt>
              </c:strCache>
            </c:strRef>
          </c:tx>
          <c:spPr>
            <a:solidFill>
              <a:schemeClr val="tx1"/>
            </a:solidFill>
            <a:ln>
              <a:solidFill>
                <a:schemeClr val="tx1"/>
              </a:solidFill>
            </a:ln>
            <a:effectLst/>
          </c:spPr>
          <c:invertIfNegative val="0"/>
          <c:cat>
            <c:strRef>
              <c:f>Sheet1!$W$54:$W$64</c:f>
              <c:strCache>
                <c:ptCount val="11"/>
                <c:pt idx="0">
                  <c:v>Royal Challengers Bangalore</c:v>
                </c:pt>
                <c:pt idx="1">
                  <c:v>Chennai Super Kings</c:v>
                </c:pt>
                <c:pt idx="2">
                  <c:v>Mumbai Indians</c:v>
                </c:pt>
                <c:pt idx="3">
                  <c:v>Pune Warriors</c:v>
                </c:pt>
                <c:pt idx="4">
                  <c:v>Kings XI Punjab</c:v>
                </c:pt>
                <c:pt idx="5">
                  <c:v>Rising Pune Supergiants</c:v>
                </c:pt>
                <c:pt idx="6">
                  <c:v>Rajasthan Royals</c:v>
                </c:pt>
                <c:pt idx="7">
                  <c:v>Sunrisers Hyderabad</c:v>
                </c:pt>
                <c:pt idx="8">
                  <c:v>Kolkata Knight Riders</c:v>
                </c:pt>
                <c:pt idx="9">
                  <c:v>Delhi Daredevils</c:v>
                </c:pt>
                <c:pt idx="10">
                  <c:v>Gujarat Lions</c:v>
                </c:pt>
              </c:strCache>
            </c:strRef>
          </c:cat>
          <c:val>
            <c:numRef>
              <c:f>Sheet1!$Y$54:$Y$64</c:f>
              <c:numCache>
                <c:formatCode>General</c:formatCode>
                <c:ptCount val="11"/>
                <c:pt idx="0">
                  <c:v>27.7667</c:v>
                </c:pt>
                <c:pt idx="1">
                  <c:v>23.125</c:v>
                </c:pt>
                <c:pt idx="2">
                  <c:v>19.432400000000001</c:v>
                </c:pt>
                <c:pt idx="3">
                  <c:v>19</c:v>
                </c:pt>
                <c:pt idx="4">
                  <c:v>16.3462</c:v>
                </c:pt>
                <c:pt idx="5">
                  <c:v>14.6</c:v>
                </c:pt>
                <c:pt idx="6">
                  <c:v>13.625</c:v>
                </c:pt>
                <c:pt idx="7">
                  <c:v>13.333299999999999</c:v>
                </c:pt>
                <c:pt idx="8">
                  <c:v>12.6563</c:v>
                </c:pt>
                <c:pt idx="9">
                  <c:v>10.2941</c:v>
                </c:pt>
                <c:pt idx="10">
                  <c:v>4.6666999999999996</c:v>
                </c:pt>
              </c:numCache>
            </c:numRef>
          </c:val>
          <c:extLst>
            <c:ext xmlns:c16="http://schemas.microsoft.com/office/drawing/2014/chart" uri="{C3380CC4-5D6E-409C-BE32-E72D297353CC}">
              <c16:uniqueId val="{00000001-A004-4A7B-BE98-5C27871B45D1}"/>
            </c:ext>
          </c:extLst>
        </c:ser>
        <c:dLbls>
          <c:showLegendKey val="0"/>
          <c:showVal val="0"/>
          <c:showCatName val="0"/>
          <c:showSerName val="0"/>
          <c:showPercent val="0"/>
          <c:showBubbleSize val="0"/>
        </c:dLbls>
        <c:gapWidth val="182"/>
        <c:axId val="1421258031"/>
        <c:axId val="1421257071"/>
      </c:barChart>
      <c:catAx>
        <c:axId val="14212580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21257071"/>
        <c:crosses val="autoZero"/>
        <c:auto val="1"/>
        <c:lblAlgn val="ctr"/>
        <c:lblOffset val="100"/>
        <c:noMultiLvlLbl val="0"/>
      </c:catAx>
      <c:valAx>
        <c:axId val="142125707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212580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4160-B05F-DB0A-EBE3-257CE5028E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9C9B86-6220-B380-E435-52967E010C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464B75-4121-0BA8-33D8-065DC98218A9}"/>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5BB203B9-957F-A59F-F3DC-C9AC56BC55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06B15C-D772-5B0C-A4CA-A83477A28C8E}"/>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3962491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8338-606E-D2E9-D243-F4FE23ACB2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ADE64F-4086-DFF9-A494-64418226F9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6A214E-AAB7-FEA9-2560-330607C8DE5B}"/>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3DCA4ACC-D39E-F69A-3DB4-4B49E2B20D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0EEAC6-C49B-03C1-CE7E-67BE9E13DE1F}"/>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144873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8E0F3-CF8A-9CE2-B9B5-F669749502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BC788E-A592-7102-1F39-B813A78E97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F2EB3-5CDA-4A29-0D49-CB2DCA1E88A1}"/>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4742472B-6689-835C-D3DD-371DAB4A80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BEDB8-BDDC-7989-1357-D479CB957C69}"/>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418527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DB12-366D-41FC-9FC0-D1B769A433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099A6E-B810-C5F3-A3DF-B138A6D265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F7B9ED4-69E9-EA25-89E6-09690AC8B6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44CD5A-C320-D006-96C8-620B5CE5FDD8}"/>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6" name="Footer Placeholder 5">
            <a:extLst>
              <a:ext uri="{FF2B5EF4-FFF2-40B4-BE49-F238E27FC236}">
                <a16:creationId xmlns:a16="http://schemas.microsoft.com/office/drawing/2014/main" id="{6716860B-ECAD-E7D7-4290-8DC5F58151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F82DC6-5BD2-4C1E-4F7A-4DAE3A5CD9A9}"/>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504460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E7902-A5AE-85F6-9EA9-E6EAA4F2B4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0E5D4E-67D0-119E-A4DE-1B16EB9449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969660-C445-20D6-7B1C-F6EDECA0EA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66B57A-F23A-30B2-37A2-49194608AE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D5207-CE09-32CB-13D4-57E4DA97F3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9C409B-479C-038E-5638-B46A5B7C6DEA}"/>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8" name="Footer Placeholder 7">
            <a:extLst>
              <a:ext uri="{FF2B5EF4-FFF2-40B4-BE49-F238E27FC236}">
                <a16:creationId xmlns:a16="http://schemas.microsoft.com/office/drawing/2014/main" id="{A2E3A30A-B562-C617-0240-72450903DA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3D77AA-26A9-D2AA-F8CE-45A49A75B6B2}"/>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165298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A29C-EEF1-AD5C-1E74-B142A3702B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2A4E62-74C3-45C8-78F0-4675DE41ECF5}"/>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4" name="Footer Placeholder 3">
            <a:extLst>
              <a:ext uri="{FF2B5EF4-FFF2-40B4-BE49-F238E27FC236}">
                <a16:creationId xmlns:a16="http://schemas.microsoft.com/office/drawing/2014/main" id="{AE336B7B-02D2-9C01-B1E5-BA501C2633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B102A1-8B15-F2F5-E7C3-140E2BBED0BE}"/>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19043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6A152E-7C14-41FB-104E-5C04DFB28A41}"/>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3" name="Footer Placeholder 2">
            <a:extLst>
              <a:ext uri="{FF2B5EF4-FFF2-40B4-BE49-F238E27FC236}">
                <a16:creationId xmlns:a16="http://schemas.microsoft.com/office/drawing/2014/main" id="{ADF908AC-D048-1123-53B9-FB2ED17C37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217510-810A-EF85-F897-CEA72C9A1616}"/>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91261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D3AE9-4481-6DF9-063F-F2D8DFE71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E90B67-D940-A5E6-13E6-FD0E196B01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C96FE7-52A9-0779-1E17-7284A00FE5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0ECFA0-A9B2-5A56-514F-12ABCE32B57D}"/>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6" name="Footer Placeholder 5">
            <a:extLst>
              <a:ext uri="{FF2B5EF4-FFF2-40B4-BE49-F238E27FC236}">
                <a16:creationId xmlns:a16="http://schemas.microsoft.com/office/drawing/2014/main" id="{89432718-304B-A444-6FA9-B2C0C8E10D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E078F-B4BE-DF0D-3D56-FFCD69BB57ED}"/>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204167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8E1-0F89-3815-5AAD-ED40AEC74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953564-B0D7-CC9F-63EA-7739D93698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2C66E9-67BA-B2CA-555A-4D12E2D5E5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976E8-6660-CBAC-F357-F3A93398CF54}"/>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6" name="Footer Placeholder 5">
            <a:extLst>
              <a:ext uri="{FF2B5EF4-FFF2-40B4-BE49-F238E27FC236}">
                <a16:creationId xmlns:a16="http://schemas.microsoft.com/office/drawing/2014/main" id="{91D18EF8-14AB-6618-94E9-B7CF2D5980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FE5518-410B-662C-9753-B920AD372EF6}"/>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55416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2BFF-7A73-8CB9-69F8-22F5E5938D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B12097-6516-926E-DF06-50ECE6D412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BB0DC-1056-4DAA-2C64-B619CC4C2F80}"/>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4CA0FE8A-29EF-8278-C3F6-EA3003A75C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29B24F-A7D7-E9A9-D56B-1EDED24998AE}"/>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1087250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02F7E-E96F-3FA1-157C-A988C80BCF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2C3225-9D29-6BB0-905B-E910D68E7B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ABA843-ACCD-A1B6-7466-B36F5A70C0DA}"/>
              </a:ext>
            </a:extLst>
          </p:cNvPr>
          <p:cNvSpPr>
            <a:spLocks noGrp="1"/>
          </p:cNvSpPr>
          <p:nvPr>
            <p:ph type="dt" sz="half" idx="10"/>
          </p:nvPr>
        </p:nvSpPr>
        <p:spPr/>
        <p:txBody>
          <a:body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D0746C89-C0A9-E60B-7A40-9BC116353A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313B2-CF62-5589-235E-5779B5CA9448}"/>
              </a:ext>
            </a:extLst>
          </p:cNvPr>
          <p:cNvSpPr>
            <a:spLocks noGrp="1"/>
          </p:cNvSpPr>
          <p:nvPr>
            <p:ph type="sldNum" sz="quarter" idx="12"/>
          </p:nvPr>
        </p:nvSpPr>
        <p:spPr/>
        <p:txBody>
          <a:bodyPr/>
          <a:lstStyle/>
          <a:p>
            <a:fld id="{216A2A77-BECA-4CC5-BB93-718D6E9BCDFC}" type="slidenum">
              <a:rPr lang="en-IN" smtClean="0"/>
              <a:t>‹#›</a:t>
            </a:fld>
            <a:endParaRPr lang="en-IN"/>
          </a:p>
        </p:txBody>
      </p:sp>
    </p:spTree>
    <p:extLst>
      <p:ext uri="{BB962C8B-B14F-4D97-AF65-F5344CB8AC3E}">
        <p14:creationId xmlns:p14="http://schemas.microsoft.com/office/powerpoint/2010/main" val="139099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53C8B9-C25A-54C2-37B0-656788EB0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8C4DD4-BA46-5535-82A1-45822C415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D1B9DF-5D04-7B3C-3AC8-91005BCD65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588A5-8687-4F96-BB73-3F2BAF7CC243}" type="datetimeFigureOut">
              <a:rPr lang="en-IN" smtClean="0"/>
              <a:t>31-12-2025</a:t>
            </a:fld>
            <a:endParaRPr lang="en-IN"/>
          </a:p>
        </p:txBody>
      </p:sp>
      <p:sp>
        <p:nvSpPr>
          <p:cNvPr id="5" name="Footer Placeholder 4">
            <a:extLst>
              <a:ext uri="{FF2B5EF4-FFF2-40B4-BE49-F238E27FC236}">
                <a16:creationId xmlns:a16="http://schemas.microsoft.com/office/drawing/2014/main" id="{819B1756-7D4F-7C8E-3009-E3851670C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017BA1-F9DB-D1BE-59B0-6E90BEA57F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A2A77-BECA-4CC5-BB93-718D6E9BCDFC}" type="slidenum">
              <a:rPr lang="en-IN" smtClean="0"/>
              <a:t>‹#›</a:t>
            </a:fld>
            <a:endParaRPr lang="en-IN"/>
          </a:p>
        </p:txBody>
      </p:sp>
    </p:spTree>
    <p:extLst>
      <p:ext uri="{BB962C8B-B14F-4D97-AF65-F5344CB8AC3E}">
        <p14:creationId xmlns:p14="http://schemas.microsoft.com/office/powerpoint/2010/main" val="3297734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C38D-D6A6-6D71-C3FD-B9A07E1D0CEB}"/>
              </a:ext>
            </a:extLst>
          </p:cNvPr>
          <p:cNvSpPr>
            <a:spLocks noGrp="1"/>
          </p:cNvSpPr>
          <p:nvPr>
            <p:ph type="ctrTitle"/>
          </p:nvPr>
        </p:nvSpPr>
        <p:spPr>
          <a:xfrm>
            <a:off x="-1205318" y="657872"/>
            <a:ext cx="8623004" cy="2526449"/>
          </a:xfrm>
        </p:spPr>
        <p:txBody>
          <a:bodyPr>
            <a:noAutofit/>
          </a:bodyPr>
          <a:lstStyle/>
          <a:p>
            <a:r>
              <a:rPr lang="en-US" sz="4800" b="1" dirty="0">
                <a:solidFill>
                  <a:srgbClr val="CC0000"/>
                </a:solidFill>
                <a:latin typeface="Baskerville Old Face" panose="02020602080505020303" pitchFamily="18" charset="0"/>
              </a:rPr>
              <a:t>SQL Project:</a:t>
            </a:r>
            <a:br>
              <a:rPr lang="en-US" sz="4800" b="1" dirty="0">
                <a:solidFill>
                  <a:srgbClr val="CC0000"/>
                </a:solidFill>
                <a:latin typeface="Baskerville Old Face" panose="02020602080505020303" pitchFamily="18" charset="0"/>
              </a:rPr>
            </a:br>
            <a:r>
              <a:rPr lang="en-US" sz="4800" b="1" dirty="0">
                <a:solidFill>
                  <a:srgbClr val="CC0000"/>
                </a:solidFill>
                <a:latin typeface="Baskerville Old Face" panose="02020602080505020303" pitchFamily="18" charset="0"/>
              </a:rPr>
              <a:t> RCB - IPL Strategy</a:t>
            </a:r>
            <a:endParaRPr lang="en-IN" sz="4800" b="1" dirty="0">
              <a:solidFill>
                <a:srgbClr val="CC0000"/>
              </a:solidFill>
              <a:latin typeface="Baskerville Old Face" panose="02020602080505020303" pitchFamily="18" charset="0"/>
            </a:endParaRPr>
          </a:p>
        </p:txBody>
      </p:sp>
      <p:sp>
        <p:nvSpPr>
          <p:cNvPr id="3" name="Subtitle 2">
            <a:extLst>
              <a:ext uri="{FF2B5EF4-FFF2-40B4-BE49-F238E27FC236}">
                <a16:creationId xmlns:a16="http://schemas.microsoft.com/office/drawing/2014/main" id="{F29E60E0-95DD-C5C1-80A3-ADD72A3CF96B}"/>
              </a:ext>
            </a:extLst>
          </p:cNvPr>
          <p:cNvSpPr>
            <a:spLocks noGrp="1"/>
          </p:cNvSpPr>
          <p:nvPr>
            <p:ph type="subTitle" idx="1"/>
          </p:nvPr>
        </p:nvSpPr>
        <p:spPr>
          <a:xfrm>
            <a:off x="-1591340" y="4909713"/>
            <a:ext cx="9144000" cy="1655762"/>
          </a:xfrm>
        </p:spPr>
        <p:txBody>
          <a:bodyPr>
            <a:normAutofit/>
          </a:bodyPr>
          <a:lstStyle/>
          <a:p>
            <a:r>
              <a:rPr lang="en-US" sz="2800" b="1" dirty="0">
                <a:latin typeface="Baskerville Old Face" panose="02020602080505020303" pitchFamily="18" charset="0"/>
              </a:rPr>
              <a:t>DHRUV KR. KESHRI</a:t>
            </a:r>
            <a:endParaRPr lang="en-IN" sz="2800" b="1" dirty="0">
              <a:latin typeface="Baskerville Old Face" panose="02020602080505020303" pitchFamily="18" charset="0"/>
            </a:endParaRPr>
          </a:p>
        </p:txBody>
      </p:sp>
      <p:pic>
        <p:nvPicPr>
          <p:cNvPr id="1028" name="Picture 4" descr="RCB-W unveil new jersey for WPL 2025">
            <a:extLst>
              <a:ext uri="{FF2B5EF4-FFF2-40B4-BE49-F238E27FC236}">
                <a16:creationId xmlns:a16="http://schemas.microsoft.com/office/drawing/2014/main" id="{E7599E2F-B4BC-41BE-4661-40942E5F2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0371" y="0"/>
            <a:ext cx="614162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605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52E13-D600-4DC9-DD9A-1FC530589D4A}"/>
              </a:ext>
            </a:extLst>
          </p:cNvPr>
          <p:cNvSpPr>
            <a:spLocks noGrp="1"/>
          </p:cNvSpPr>
          <p:nvPr>
            <p:ph type="title"/>
          </p:nvPr>
        </p:nvSpPr>
        <p:spPr/>
        <p:txBody>
          <a:bodyPr>
            <a:normAutofit/>
          </a:bodyPr>
          <a:lstStyle/>
          <a:p>
            <a:pPr algn="ctr"/>
            <a:r>
              <a:rPr lang="en-IN" sz="3600" b="1" dirty="0">
                <a:solidFill>
                  <a:srgbClr val="C00000"/>
                </a:solidFill>
                <a:latin typeface="Baskerville Old Face" panose="02020602080505020303" pitchFamily="18" charset="0"/>
              </a:rPr>
              <a:t>PROBLEM STATEMENT</a:t>
            </a:r>
            <a:endParaRPr lang="en-IN" sz="3600" dirty="0">
              <a:solidFill>
                <a:srgbClr val="C00000"/>
              </a:solidFill>
              <a:latin typeface="Baskerville Old Face" panose="02020602080505020303" pitchFamily="18" charset="0"/>
            </a:endParaRPr>
          </a:p>
        </p:txBody>
      </p:sp>
      <p:pic>
        <p:nvPicPr>
          <p:cNvPr id="4098" name="Picture 2" descr="RCB Logo">
            <a:extLst>
              <a:ext uri="{FF2B5EF4-FFF2-40B4-BE49-F238E27FC236}">
                <a16:creationId xmlns:a16="http://schemas.microsoft.com/office/drawing/2014/main" id="{B298ADA4-1F64-7224-3549-E315101B4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290D9B94-F288-B473-41ED-F839CF54D9C3}"/>
              </a:ext>
            </a:extLst>
          </p:cNvPr>
          <p:cNvSpPr>
            <a:spLocks noGrp="1" noChangeArrowheads="1"/>
          </p:cNvSpPr>
          <p:nvPr>
            <p:ph idx="1"/>
          </p:nvPr>
        </p:nvSpPr>
        <p:spPr bwMode="auto">
          <a:xfrm>
            <a:off x="838200" y="2274838"/>
            <a:ext cx="99460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rPr>
              <a:t>You have been appointed as a sports data analyst for RCB, tasked with identifying top-performing and cost-effective players ahead of the 2017 mega auction. </a:t>
            </a:r>
          </a:p>
          <a:p>
            <a:pPr eaLnBrk="0" fontAlgn="base" hangingPunct="0">
              <a:lnSpc>
                <a:spcPct val="100000"/>
              </a:lnSpc>
              <a:spcBef>
                <a:spcPct val="0"/>
              </a:spcBef>
              <a:spcAft>
                <a:spcPct val="0"/>
              </a:spcAft>
            </a:pPr>
            <a:endParaRPr lang="en-US" altLang="en-US" sz="2400" dirty="0"/>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rPr>
              <a:t>Your objective is to develop data-driven strategies and actionable insights that will help the franchise build a competitive and well-balanced squad.</a:t>
            </a:r>
          </a:p>
        </p:txBody>
      </p:sp>
    </p:spTree>
    <p:extLst>
      <p:ext uri="{BB962C8B-B14F-4D97-AF65-F5344CB8AC3E}">
        <p14:creationId xmlns:p14="http://schemas.microsoft.com/office/powerpoint/2010/main" val="2881494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A224-C44D-2B5E-95D3-8FD550062600}"/>
              </a:ext>
            </a:extLst>
          </p:cNvPr>
          <p:cNvSpPr>
            <a:spLocks noGrp="1"/>
          </p:cNvSpPr>
          <p:nvPr>
            <p:ph type="title"/>
          </p:nvPr>
        </p:nvSpPr>
        <p:spPr/>
        <p:txBody>
          <a:bodyPr>
            <a:normAutofit/>
          </a:bodyPr>
          <a:lstStyle/>
          <a:p>
            <a:pPr algn="ctr"/>
            <a:r>
              <a:rPr lang="en-US" sz="3600" b="1" dirty="0">
                <a:solidFill>
                  <a:srgbClr val="C00000"/>
                </a:solidFill>
                <a:latin typeface="Baskerville Old Face" panose="02020602080505020303" pitchFamily="18" charset="0"/>
              </a:rPr>
              <a:t>DATA OVERVIEW</a:t>
            </a:r>
            <a:endParaRPr lang="en-IN" sz="3600" b="1" dirty="0">
              <a:solidFill>
                <a:srgbClr val="C00000"/>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C5542AA5-035B-CDFD-6CC1-F1DAE12CAF6D}"/>
              </a:ext>
            </a:extLst>
          </p:cNvPr>
          <p:cNvSpPr>
            <a:spLocks noGrp="1"/>
          </p:cNvSpPr>
          <p:nvPr>
            <p:ph sz="half" idx="1"/>
          </p:nvPr>
        </p:nvSpPr>
        <p:spPr>
          <a:xfrm>
            <a:off x="435935" y="1517650"/>
            <a:ext cx="5583865" cy="4753227"/>
          </a:xfrm>
        </p:spPr>
        <p:txBody>
          <a:bodyPr>
            <a:noAutofit/>
          </a:bodyPr>
          <a:lstStyle/>
          <a:p>
            <a:r>
              <a:rPr lang="en-US" sz="1900" b="1" i="0" dirty="0">
                <a:effectLst/>
              </a:rPr>
              <a:t>Core Entities:</a:t>
            </a:r>
            <a:endParaRPr lang="en-US" sz="1900" b="0" i="0" dirty="0">
              <a:effectLst/>
            </a:endParaRPr>
          </a:p>
          <a:p>
            <a:pPr marL="742950" lvl="1" indent="-285750">
              <a:buFont typeface="+mj-lt"/>
              <a:buAutoNum type="arabicPeriod"/>
            </a:pPr>
            <a:r>
              <a:rPr lang="en-US" sz="1900" b="1" i="0" dirty="0">
                <a:effectLst/>
              </a:rPr>
              <a:t>Player</a:t>
            </a:r>
            <a:r>
              <a:rPr lang="en-US" sz="1900" b="0" i="0" dirty="0">
                <a:effectLst/>
              </a:rPr>
              <a:t>: Details about players (ID, name, role).</a:t>
            </a:r>
          </a:p>
          <a:p>
            <a:pPr marL="742950" lvl="1" indent="-285750">
              <a:buFont typeface="+mj-lt"/>
              <a:buAutoNum type="arabicPeriod"/>
            </a:pPr>
            <a:r>
              <a:rPr lang="en-US" sz="1900" b="1" i="0" dirty="0">
                <a:effectLst/>
              </a:rPr>
              <a:t>Match</a:t>
            </a:r>
            <a:r>
              <a:rPr lang="en-US" sz="1900" b="0" i="0" dirty="0">
                <a:effectLst/>
              </a:rPr>
              <a:t>: Information on matches (ID, date, winner, venue).</a:t>
            </a:r>
          </a:p>
          <a:p>
            <a:pPr marL="742950" lvl="1" indent="-285750">
              <a:buFont typeface="+mj-lt"/>
              <a:buAutoNum type="arabicPeriod"/>
            </a:pPr>
            <a:r>
              <a:rPr lang="en-US" sz="1900" b="1" i="0" dirty="0">
                <a:effectLst/>
              </a:rPr>
              <a:t>Team</a:t>
            </a:r>
            <a:r>
              <a:rPr lang="en-US" sz="1900" b="0" i="0" dirty="0">
                <a:effectLst/>
              </a:rPr>
              <a:t>: Teams participating in the IPL (ID, name).</a:t>
            </a:r>
          </a:p>
          <a:p>
            <a:pPr marL="742950" lvl="1" indent="-285750">
              <a:buFont typeface="+mj-lt"/>
              <a:buAutoNum type="arabicPeriod"/>
            </a:pPr>
            <a:r>
              <a:rPr lang="en-US" sz="1900" b="1" i="0" dirty="0">
                <a:effectLst/>
              </a:rPr>
              <a:t>Venue</a:t>
            </a:r>
            <a:r>
              <a:rPr lang="en-US" sz="1900" b="0" i="0" dirty="0">
                <a:effectLst/>
              </a:rPr>
              <a:t>: Locations of matches (ID, name, city, country).</a:t>
            </a:r>
          </a:p>
          <a:p>
            <a:pPr marL="457200" lvl="1" indent="0">
              <a:buNone/>
            </a:pPr>
            <a:endParaRPr lang="en-US" sz="1900" b="0" i="0" dirty="0">
              <a:effectLst/>
            </a:endParaRPr>
          </a:p>
          <a:p>
            <a:r>
              <a:rPr lang="en-US" sz="1900" b="1" i="0" dirty="0">
                <a:effectLst/>
              </a:rPr>
              <a:t>Performance Tracking:</a:t>
            </a:r>
            <a:endParaRPr lang="en-US" sz="1900" b="0" i="0" dirty="0">
              <a:effectLst/>
            </a:endParaRPr>
          </a:p>
          <a:p>
            <a:pPr marL="742950" lvl="1" indent="-285750">
              <a:buFont typeface="+mj-lt"/>
              <a:buAutoNum type="arabicPeriod"/>
            </a:pPr>
            <a:r>
              <a:rPr lang="en-US" sz="1900" b="1" i="0" dirty="0">
                <a:effectLst/>
              </a:rPr>
              <a:t>Ball by Ball</a:t>
            </a:r>
            <a:r>
              <a:rPr lang="en-US" sz="1900" b="0" i="0" dirty="0">
                <a:effectLst/>
              </a:rPr>
              <a:t>: Events for each ball (runs, wickets, player involvement).</a:t>
            </a:r>
          </a:p>
          <a:p>
            <a:pPr marL="742950" lvl="1" indent="-285750">
              <a:buFont typeface="+mj-lt"/>
              <a:buAutoNum type="arabicPeriod"/>
            </a:pPr>
            <a:r>
              <a:rPr lang="en-US" sz="1900" b="1" i="0" dirty="0">
                <a:effectLst/>
              </a:rPr>
              <a:t>Wickets Taken</a:t>
            </a:r>
            <a:r>
              <a:rPr lang="en-US" sz="1900" b="0" i="0" dirty="0">
                <a:effectLst/>
              </a:rPr>
              <a:t>: Dismissals (bowler, fielder, player out).</a:t>
            </a:r>
          </a:p>
          <a:p>
            <a:pPr marL="742950" lvl="1" indent="-285750">
              <a:buFont typeface="+mj-lt"/>
              <a:buAutoNum type="arabicPeriod"/>
            </a:pPr>
            <a:r>
              <a:rPr lang="en-US" sz="1900" b="1" i="0" dirty="0">
                <a:effectLst/>
              </a:rPr>
              <a:t>Extra Runs</a:t>
            </a:r>
            <a:r>
              <a:rPr lang="en-US" sz="1900" b="0" i="0" dirty="0">
                <a:effectLst/>
              </a:rPr>
              <a:t>: Extra runs conceded (</a:t>
            </a:r>
            <a:r>
              <a:rPr lang="en-US" sz="1900" b="0" i="0" dirty="0" err="1">
                <a:effectLst/>
              </a:rPr>
              <a:t>wides</a:t>
            </a:r>
            <a:r>
              <a:rPr lang="en-US" sz="1900" b="0" i="0" dirty="0">
                <a:effectLst/>
              </a:rPr>
              <a:t>, no-balls).</a:t>
            </a:r>
          </a:p>
          <a:p>
            <a:endParaRPr lang="en-IN" sz="1900" dirty="0"/>
          </a:p>
        </p:txBody>
      </p:sp>
      <p:sp>
        <p:nvSpPr>
          <p:cNvPr id="4" name="Content Placeholder 3">
            <a:extLst>
              <a:ext uri="{FF2B5EF4-FFF2-40B4-BE49-F238E27FC236}">
                <a16:creationId xmlns:a16="http://schemas.microsoft.com/office/drawing/2014/main" id="{95389C7A-9DE6-C503-C898-F71D782ED828}"/>
              </a:ext>
            </a:extLst>
          </p:cNvPr>
          <p:cNvSpPr>
            <a:spLocks noGrp="1"/>
          </p:cNvSpPr>
          <p:nvPr>
            <p:ph sz="half" idx="2"/>
          </p:nvPr>
        </p:nvSpPr>
        <p:spPr>
          <a:xfrm>
            <a:off x="6019800" y="1636939"/>
            <a:ext cx="5334000" cy="4561842"/>
          </a:xfrm>
        </p:spPr>
        <p:txBody>
          <a:bodyPr>
            <a:noAutofit/>
          </a:bodyPr>
          <a:lstStyle/>
          <a:p>
            <a:r>
              <a:rPr lang="en-US" sz="1900" b="1" i="0" dirty="0">
                <a:effectLst/>
              </a:rPr>
              <a:t>Match Outcomes:</a:t>
            </a:r>
            <a:endParaRPr lang="en-US" sz="1900" b="0" i="0" dirty="0">
              <a:effectLst/>
            </a:endParaRPr>
          </a:p>
          <a:p>
            <a:pPr marL="742950" lvl="1" indent="-285750">
              <a:buFont typeface="+mj-lt"/>
              <a:buAutoNum type="arabicPeriod"/>
            </a:pPr>
            <a:r>
              <a:rPr lang="en-US" sz="1900" b="1" i="0" dirty="0">
                <a:effectLst/>
              </a:rPr>
              <a:t>Outcome</a:t>
            </a:r>
            <a:r>
              <a:rPr lang="en-US" sz="1900" b="0" i="0" dirty="0">
                <a:effectLst/>
              </a:rPr>
              <a:t>: Match results (winning team, outcome type).</a:t>
            </a:r>
          </a:p>
          <a:p>
            <a:pPr marL="742950" lvl="1" indent="-285750">
              <a:buFont typeface="+mj-lt"/>
              <a:buAutoNum type="arabicPeriod"/>
            </a:pPr>
            <a:r>
              <a:rPr lang="en-US" sz="1900" b="1" i="0" dirty="0">
                <a:effectLst/>
              </a:rPr>
              <a:t>Win By</a:t>
            </a:r>
            <a:r>
              <a:rPr lang="en-US" sz="1900" b="0" i="0" dirty="0">
                <a:effectLst/>
              </a:rPr>
              <a:t>: Method and margin of victory.</a:t>
            </a:r>
          </a:p>
          <a:p>
            <a:pPr marL="800100" lvl="1" indent="-342900">
              <a:buFont typeface="Courier New" panose="02070309020205020404" pitchFamily="49" charset="0"/>
              <a:buChar char="o"/>
            </a:pPr>
            <a:endParaRPr lang="en-US" sz="1900" b="0" i="0" dirty="0">
              <a:effectLst/>
            </a:endParaRPr>
          </a:p>
          <a:p>
            <a:r>
              <a:rPr lang="en-US" sz="1900" b="1" i="0" dirty="0">
                <a:effectLst/>
              </a:rPr>
              <a:t>Player Awards:</a:t>
            </a:r>
            <a:endParaRPr lang="en-US" sz="1900" b="0" i="0" dirty="0">
              <a:effectLst/>
            </a:endParaRPr>
          </a:p>
          <a:p>
            <a:pPr marL="742950" lvl="1" indent="-285750">
              <a:buFont typeface="+mj-lt"/>
              <a:buAutoNum type="arabicPeriod"/>
            </a:pPr>
            <a:r>
              <a:rPr lang="en-US" sz="1900" b="1" i="0" dirty="0">
                <a:effectLst/>
              </a:rPr>
              <a:t>Season</a:t>
            </a:r>
            <a:r>
              <a:rPr lang="en-US" sz="1900" b="0" i="0" dirty="0">
                <a:effectLst/>
              </a:rPr>
              <a:t>: Season details and awards (Man of the Series, Orange Cap, Purple Cap).</a:t>
            </a:r>
          </a:p>
          <a:p>
            <a:pPr marL="742950" lvl="1" indent="-285750">
              <a:buFont typeface="+mj-lt"/>
              <a:buAutoNum type="arabicPeriod"/>
            </a:pPr>
            <a:r>
              <a:rPr lang="en-US" sz="1900" b="1" i="0" dirty="0">
                <a:effectLst/>
              </a:rPr>
              <a:t>Rolee</a:t>
            </a:r>
            <a:r>
              <a:rPr lang="en-US" sz="1900" b="0" i="0" dirty="0">
                <a:effectLst/>
              </a:rPr>
              <a:t>: Player roles and skills.</a:t>
            </a:r>
          </a:p>
          <a:p>
            <a:pPr lvl="1"/>
            <a:endParaRPr lang="en-US" sz="1900" b="0" i="0" dirty="0">
              <a:effectLst/>
            </a:endParaRPr>
          </a:p>
          <a:p>
            <a:r>
              <a:rPr lang="en-US" sz="1900" b="1" i="0" dirty="0">
                <a:effectLst/>
              </a:rPr>
              <a:t>Supporting Entities:</a:t>
            </a:r>
            <a:endParaRPr lang="en-US" sz="1900" b="0" i="0" dirty="0">
              <a:effectLst/>
            </a:endParaRPr>
          </a:p>
          <a:p>
            <a:pPr marL="742950" lvl="1" indent="-285750">
              <a:buFont typeface="+mj-lt"/>
              <a:buAutoNum type="arabicPeriod"/>
            </a:pPr>
            <a:r>
              <a:rPr lang="en-US" sz="1900" b="1" i="0" dirty="0">
                <a:effectLst/>
              </a:rPr>
              <a:t>City &amp; Country</a:t>
            </a:r>
            <a:r>
              <a:rPr lang="en-US" sz="1900" b="0" i="0" dirty="0">
                <a:effectLst/>
              </a:rPr>
              <a:t>: Geographical context for venues.</a:t>
            </a:r>
          </a:p>
          <a:p>
            <a:pPr marL="742950" lvl="1" indent="-285750">
              <a:buFont typeface="+mj-lt"/>
              <a:buAutoNum type="arabicPeriod"/>
            </a:pPr>
            <a:r>
              <a:rPr lang="en-US" sz="1900" b="1" i="0" dirty="0">
                <a:effectLst/>
              </a:rPr>
              <a:t>Umpire</a:t>
            </a:r>
            <a:r>
              <a:rPr lang="en-US" sz="1900" b="0" i="0" dirty="0">
                <a:effectLst/>
              </a:rPr>
              <a:t>: Details about match officials.</a:t>
            </a:r>
          </a:p>
          <a:p>
            <a:pPr marL="742950" lvl="1" indent="-285750">
              <a:buFont typeface="+mj-lt"/>
              <a:buAutoNum type="arabicPeriod"/>
            </a:pPr>
            <a:r>
              <a:rPr lang="en-US" sz="1900" b="1" i="0" dirty="0">
                <a:effectLst/>
              </a:rPr>
              <a:t>Toss Decision</a:t>
            </a:r>
            <a:r>
              <a:rPr lang="en-US" sz="1900" b="0" i="0" dirty="0">
                <a:effectLst/>
              </a:rPr>
              <a:t>: Outcome of the toss.</a:t>
            </a:r>
          </a:p>
          <a:p>
            <a:endParaRPr lang="en-IN" sz="1900" dirty="0"/>
          </a:p>
        </p:txBody>
      </p:sp>
      <p:pic>
        <p:nvPicPr>
          <p:cNvPr id="5" name="Picture 2" descr="RCB Logo">
            <a:extLst>
              <a:ext uri="{FF2B5EF4-FFF2-40B4-BE49-F238E27FC236}">
                <a16:creationId xmlns:a16="http://schemas.microsoft.com/office/drawing/2014/main" id="{60847FEA-827D-6A0A-AC6A-ACA984E5C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25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75F3F-C053-404E-5317-E8C1CA44D096}"/>
              </a:ext>
            </a:extLst>
          </p:cNvPr>
          <p:cNvSpPr>
            <a:spLocks noGrp="1"/>
          </p:cNvSpPr>
          <p:nvPr>
            <p:ph type="title"/>
          </p:nvPr>
        </p:nvSpPr>
        <p:spPr>
          <a:xfrm>
            <a:off x="590551" y="66084"/>
            <a:ext cx="10515600" cy="1325563"/>
          </a:xfrm>
        </p:spPr>
        <p:txBody>
          <a:bodyPr>
            <a:normAutofit/>
          </a:bodyPr>
          <a:lstStyle/>
          <a:p>
            <a:pPr algn="ctr"/>
            <a:r>
              <a:rPr lang="en-US" sz="3600" b="1" dirty="0">
                <a:solidFill>
                  <a:srgbClr val="C00000"/>
                </a:solidFill>
                <a:latin typeface="Baskerville Old Face" panose="02020602080505020303" pitchFamily="18" charset="0"/>
              </a:rPr>
              <a:t>DATABASE SCHEMA</a:t>
            </a:r>
            <a:endParaRPr lang="en-IN" sz="3600" b="1" dirty="0">
              <a:solidFill>
                <a:srgbClr val="C00000"/>
              </a:solidFill>
              <a:latin typeface="Baskerville Old Face" panose="02020602080505020303" pitchFamily="18" charset="0"/>
            </a:endParaRPr>
          </a:p>
        </p:txBody>
      </p:sp>
      <p:sp>
        <p:nvSpPr>
          <p:cNvPr id="7" name="Content Placeholder 6">
            <a:extLst>
              <a:ext uri="{FF2B5EF4-FFF2-40B4-BE49-F238E27FC236}">
                <a16:creationId xmlns:a16="http://schemas.microsoft.com/office/drawing/2014/main" id="{341A8620-08E4-B1A9-CE9F-640F1D9E8D7A}"/>
              </a:ext>
            </a:extLst>
          </p:cNvPr>
          <p:cNvSpPr>
            <a:spLocks noGrp="1"/>
          </p:cNvSpPr>
          <p:nvPr>
            <p:ph idx="1"/>
          </p:nvPr>
        </p:nvSpPr>
        <p:spPr/>
        <p:txBody>
          <a:bodyPr/>
          <a:lstStyle/>
          <a:p>
            <a:endParaRPr lang="en-IN"/>
          </a:p>
        </p:txBody>
      </p:sp>
      <p:pic>
        <p:nvPicPr>
          <p:cNvPr id="2050" name="Picture 2" descr="ER diagram of cricket database without background gridlines">
            <a:extLst>
              <a:ext uri="{FF2B5EF4-FFF2-40B4-BE49-F238E27FC236}">
                <a16:creationId xmlns:a16="http://schemas.microsoft.com/office/drawing/2014/main" id="{999D2A67-7306-9072-D24C-17B10E122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5" y="1456661"/>
            <a:ext cx="10515601" cy="495261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CB Logo">
            <a:extLst>
              <a:ext uri="{FF2B5EF4-FFF2-40B4-BE49-F238E27FC236}">
                <a16:creationId xmlns:a16="http://schemas.microsoft.com/office/drawing/2014/main" id="{2FE186F5-8DD4-A6B9-6FDD-6411BCA08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9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568EF-298D-BB3F-985B-24C16C722C26}"/>
              </a:ext>
            </a:extLst>
          </p:cNvPr>
          <p:cNvSpPr>
            <a:spLocks noGrp="1"/>
          </p:cNvSpPr>
          <p:nvPr>
            <p:ph type="title"/>
          </p:nvPr>
        </p:nvSpPr>
        <p:spPr/>
        <p:txBody>
          <a:bodyPr>
            <a:normAutofit/>
          </a:bodyPr>
          <a:lstStyle/>
          <a:p>
            <a:pPr algn="ctr"/>
            <a:r>
              <a:rPr lang="en-US" sz="3600" b="1" dirty="0">
                <a:solidFill>
                  <a:srgbClr val="C00000"/>
                </a:solidFill>
                <a:latin typeface="Baskerville Old Face" panose="02020602080505020303" pitchFamily="18" charset="0"/>
              </a:rPr>
              <a:t>METHODOLOGY</a:t>
            </a:r>
            <a:endParaRPr lang="en-IN" sz="3600" b="1" dirty="0">
              <a:solidFill>
                <a:srgbClr val="C00000"/>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E2D726F1-8D25-A141-297D-16A9F29D38FD}"/>
              </a:ext>
            </a:extLst>
          </p:cNvPr>
          <p:cNvSpPr>
            <a:spLocks noGrp="1"/>
          </p:cNvSpPr>
          <p:nvPr>
            <p:ph idx="1"/>
          </p:nvPr>
        </p:nvSpPr>
        <p:spPr>
          <a:xfrm>
            <a:off x="838200" y="1974481"/>
            <a:ext cx="9515696" cy="4661934"/>
          </a:xfrm>
        </p:spPr>
        <p:txBody>
          <a:bodyPr>
            <a:noAutofit/>
          </a:bodyPr>
          <a:lstStyle/>
          <a:p>
            <a:r>
              <a:rPr lang="en-US" sz="2000" b="1" dirty="0"/>
              <a:t>Data Understanding &amp; Cleaning:</a:t>
            </a:r>
            <a:r>
              <a:rPr lang="en-US" sz="2000" dirty="0"/>
              <a:t> Explored and cleaned data, handling missing values and standardizing team names.</a:t>
            </a:r>
          </a:p>
          <a:p>
            <a:r>
              <a:rPr lang="en-US" sz="2000" b="1" dirty="0"/>
              <a:t>Data Extraction:</a:t>
            </a:r>
            <a:r>
              <a:rPr lang="en-US" sz="2000" dirty="0"/>
              <a:t> Retrieved match, player, and venue data using SQL joins and CTEs.</a:t>
            </a:r>
          </a:p>
          <a:p>
            <a:r>
              <a:rPr lang="en-US" sz="2000" b="1" dirty="0"/>
              <a:t>KPI Definition:</a:t>
            </a:r>
            <a:r>
              <a:rPr lang="en-US" sz="2000" dirty="0"/>
              <a:t> Defined metrics like win %, strike rate, runs, wickets, and economy rate.</a:t>
            </a:r>
          </a:p>
          <a:p>
            <a:r>
              <a:rPr lang="en-US" sz="2000" b="1" dirty="0"/>
              <a:t>Analysis &amp; Visualization:</a:t>
            </a:r>
            <a:r>
              <a:rPr lang="en-US" sz="2000" dirty="0"/>
              <a:t> Studied performance trends and compared seasons, players, and venues using Excel and Power BI.</a:t>
            </a:r>
          </a:p>
          <a:p>
            <a:r>
              <a:rPr lang="en-US" sz="2000" b="1" dirty="0"/>
              <a:t>Insights Generation:</a:t>
            </a:r>
            <a:r>
              <a:rPr lang="en-US" sz="2000" dirty="0"/>
              <a:t> Identified patterns, strengths, and improvement areas for RCB.</a:t>
            </a:r>
          </a:p>
          <a:p>
            <a:r>
              <a:rPr lang="en-US" sz="2000" b="1" dirty="0"/>
              <a:t>Tools:</a:t>
            </a:r>
            <a:r>
              <a:rPr lang="en-US" sz="2000" dirty="0"/>
              <a:t> SQL, Excel, Power BI</a:t>
            </a:r>
          </a:p>
          <a:p>
            <a:endParaRPr lang="en-IN" sz="2000" dirty="0"/>
          </a:p>
        </p:txBody>
      </p:sp>
      <p:pic>
        <p:nvPicPr>
          <p:cNvPr id="4" name="Picture 2" descr="RCB Logo">
            <a:extLst>
              <a:ext uri="{FF2B5EF4-FFF2-40B4-BE49-F238E27FC236}">
                <a16:creationId xmlns:a16="http://schemas.microsoft.com/office/drawing/2014/main" id="{90DE09E5-54D3-E645-3534-2734AD9F2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70441"/>
            <a:ext cx="79692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843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BD02-0959-4213-BD43-53D9A2FC16EA}"/>
              </a:ext>
            </a:extLst>
          </p:cNvPr>
          <p:cNvSpPr>
            <a:spLocks noGrp="1"/>
          </p:cNvSpPr>
          <p:nvPr>
            <p:ph type="title"/>
          </p:nvPr>
        </p:nvSpPr>
        <p:spPr>
          <a:xfrm>
            <a:off x="838200" y="365125"/>
            <a:ext cx="10515600" cy="1325563"/>
          </a:xfrm>
        </p:spPr>
        <p:txBody>
          <a:bodyPr>
            <a:normAutofit/>
          </a:bodyPr>
          <a:lstStyle/>
          <a:p>
            <a:r>
              <a:rPr lang="en-IN" sz="3600" b="1" dirty="0">
                <a:solidFill>
                  <a:srgbClr val="C00000"/>
                </a:solidFill>
                <a:latin typeface="Baskerville Old Face" panose="02020602080505020303" pitchFamily="18" charset="0"/>
              </a:rPr>
              <a:t>RCB Performance Analysis: 2013–2016</a:t>
            </a:r>
          </a:p>
        </p:txBody>
      </p:sp>
      <p:pic>
        <p:nvPicPr>
          <p:cNvPr id="4" name="Picture 2" descr="RCB Logo">
            <a:extLst>
              <a:ext uri="{FF2B5EF4-FFF2-40B4-BE49-F238E27FC236}">
                <a16:creationId xmlns:a16="http://schemas.microsoft.com/office/drawing/2014/main" id="{1B5DDF5F-1E27-B118-4BF5-4F79F870D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ontent Placeholder 5">
            <a:extLst>
              <a:ext uri="{FF2B5EF4-FFF2-40B4-BE49-F238E27FC236}">
                <a16:creationId xmlns:a16="http://schemas.microsoft.com/office/drawing/2014/main" id="{025671B4-938E-7790-E352-89DC723334C8}"/>
              </a:ext>
            </a:extLst>
          </p:cNvPr>
          <p:cNvGraphicFramePr>
            <a:graphicFrameLocks noGrp="1"/>
          </p:cNvGraphicFramePr>
          <p:nvPr>
            <p:ph idx="1"/>
            <p:extLst>
              <p:ext uri="{D42A27DB-BD31-4B8C-83A1-F6EECF244321}">
                <p14:modId xmlns:p14="http://schemas.microsoft.com/office/powerpoint/2010/main" val="387072439"/>
              </p:ext>
            </p:extLst>
          </p:nvPr>
        </p:nvGraphicFramePr>
        <p:xfrm>
          <a:off x="7464055" y="1690688"/>
          <a:ext cx="4137394" cy="480218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3673FA92-2D16-BCB7-F8FD-734CE66730A7}"/>
              </a:ext>
            </a:extLst>
          </p:cNvPr>
          <p:cNvSpPr txBox="1"/>
          <p:nvPr/>
        </p:nvSpPr>
        <p:spPr>
          <a:xfrm>
            <a:off x="552893" y="2025234"/>
            <a:ext cx="6095114" cy="1261884"/>
          </a:xfrm>
          <a:prstGeom prst="rect">
            <a:avLst/>
          </a:prstGeom>
          <a:noFill/>
        </p:spPr>
        <p:txBody>
          <a:bodyPr wrap="square">
            <a:spAutoFit/>
          </a:bodyPr>
          <a:lstStyle/>
          <a:p>
            <a:r>
              <a:rPr lang="en-US" sz="1900" dirty="0"/>
              <a:t>RCB showed moments of strength but struggled with consistency</a:t>
            </a:r>
            <a:br>
              <a:rPr lang="en-US" sz="1900" dirty="0"/>
            </a:br>
            <a:r>
              <a:rPr lang="en-US" sz="1900" dirty="0"/>
              <a:t>from 2013 to 2016, with performance rising after a mid-period dip.</a:t>
            </a:r>
          </a:p>
        </p:txBody>
      </p:sp>
      <p:sp>
        <p:nvSpPr>
          <p:cNvPr id="9" name="Rectangle 2">
            <a:extLst>
              <a:ext uri="{FF2B5EF4-FFF2-40B4-BE49-F238E27FC236}">
                <a16:creationId xmlns:a16="http://schemas.microsoft.com/office/drawing/2014/main" id="{257E7C61-C293-B9F7-CAA4-7D1C2CB10842}"/>
              </a:ext>
            </a:extLst>
          </p:cNvPr>
          <p:cNvSpPr>
            <a:spLocks noChangeArrowheads="1"/>
          </p:cNvSpPr>
          <p:nvPr/>
        </p:nvSpPr>
        <p:spPr bwMode="auto">
          <a:xfrm>
            <a:off x="477579" y="3674242"/>
            <a:ext cx="7347098"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Strong performance in 2013 with a </a:t>
            </a:r>
            <a:r>
              <a:rPr kumimoji="0" lang="en-US" altLang="en-US" sz="1900" b="0" i="0" strike="noStrike" cap="none" normalizeH="0" baseline="0" dirty="0">
                <a:ln>
                  <a:noFill/>
                </a:ln>
                <a:solidFill>
                  <a:schemeClr val="tx1"/>
                </a:solidFill>
                <a:effectLst/>
              </a:rPr>
              <a:t>56.3</a:t>
            </a:r>
            <a:r>
              <a:rPr kumimoji="0" lang="en-US" altLang="en-US" sz="1900" b="0" i="0" u="none" strike="noStrike" cap="none" normalizeH="0" baseline="0" dirty="0">
                <a:ln>
                  <a:noFill/>
                </a:ln>
                <a:solidFill>
                  <a:schemeClr val="tx1"/>
                </a:solidFill>
                <a:effectLst/>
              </a:rPr>
              <a:t>% win rate.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Major drop in 2014, the weakest season.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Solid recovery in 2015 with improved wins.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2016 matches the best performance, returning to a 56.3% win rate.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Overall trend shows a dip in 2014 followed by steady improvement</a:t>
            </a:r>
          </a:p>
        </p:txBody>
      </p:sp>
    </p:spTree>
    <p:extLst>
      <p:ext uri="{BB962C8B-B14F-4D97-AF65-F5344CB8AC3E}">
        <p14:creationId xmlns:p14="http://schemas.microsoft.com/office/powerpoint/2010/main" val="656793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A13AA-2EFB-5A92-C970-7C39BAE9F258}"/>
              </a:ext>
            </a:extLst>
          </p:cNvPr>
          <p:cNvSpPr>
            <a:spLocks noGrp="1"/>
          </p:cNvSpPr>
          <p:nvPr>
            <p:ph type="title"/>
          </p:nvPr>
        </p:nvSpPr>
        <p:spPr/>
        <p:txBody>
          <a:bodyPr>
            <a:normAutofit/>
          </a:bodyPr>
          <a:lstStyle/>
          <a:p>
            <a:r>
              <a:rPr lang="en-US" sz="3600" b="1" dirty="0">
                <a:solidFill>
                  <a:srgbClr val="C00000"/>
                </a:solidFill>
                <a:latin typeface="Baskerville Old Face" panose="02020602080505020303" pitchFamily="18" charset="0"/>
              </a:rPr>
              <a:t>Top Batters By Average Runs Per Match</a:t>
            </a:r>
            <a:endParaRPr lang="en-IN" sz="3600" b="1" dirty="0">
              <a:solidFill>
                <a:srgbClr val="C00000"/>
              </a:solidFill>
              <a:latin typeface="Baskerville Old Face" panose="02020602080505020303" pitchFamily="18" charset="0"/>
            </a:endParaRPr>
          </a:p>
        </p:txBody>
      </p:sp>
      <p:pic>
        <p:nvPicPr>
          <p:cNvPr id="4" name="Picture 2" descr="RCB Logo">
            <a:extLst>
              <a:ext uri="{FF2B5EF4-FFF2-40B4-BE49-F238E27FC236}">
                <a16:creationId xmlns:a16="http://schemas.microsoft.com/office/drawing/2014/main" id="{835E2F74-D107-5EBC-F177-D38F9040F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70441"/>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40544A1-1851-75BF-D240-3DF1C7A50357}"/>
              </a:ext>
            </a:extLst>
          </p:cNvPr>
          <p:cNvSpPr txBox="1"/>
          <p:nvPr/>
        </p:nvSpPr>
        <p:spPr>
          <a:xfrm>
            <a:off x="544032" y="1690688"/>
            <a:ext cx="6666171" cy="2139047"/>
          </a:xfrm>
          <a:prstGeom prst="rect">
            <a:avLst/>
          </a:prstGeom>
          <a:noFill/>
        </p:spPr>
        <p:txBody>
          <a:bodyPr wrap="square">
            <a:spAutoFit/>
          </a:bodyPr>
          <a:lstStyle/>
          <a:p>
            <a:r>
              <a:rPr lang="en-US" sz="1900" dirty="0"/>
              <a:t>To assess RCB’s batting strength, I analyzed total runs, average runs per match, strike rate, and venue-wise performance to identify players who are both consistent and adaptable. Focusing on average runs per match across IPL seasons highlights batsmen who score reliably and anchor innings,</a:t>
            </a:r>
          </a:p>
          <a:p>
            <a:r>
              <a:rPr lang="en-US" sz="1900" dirty="0"/>
              <a:t> making them key candidates for retention and future strategic planning.</a:t>
            </a:r>
            <a:endParaRPr lang="en-IN" sz="1900" dirty="0"/>
          </a:p>
        </p:txBody>
      </p:sp>
      <p:sp>
        <p:nvSpPr>
          <p:cNvPr id="9" name="TextBox 8">
            <a:extLst>
              <a:ext uri="{FF2B5EF4-FFF2-40B4-BE49-F238E27FC236}">
                <a16:creationId xmlns:a16="http://schemas.microsoft.com/office/drawing/2014/main" id="{E1716C2C-8DE4-D650-39A8-FA07C7BDF677}"/>
              </a:ext>
            </a:extLst>
          </p:cNvPr>
          <p:cNvSpPr txBox="1"/>
          <p:nvPr/>
        </p:nvSpPr>
        <p:spPr>
          <a:xfrm>
            <a:off x="544032" y="3854325"/>
            <a:ext cx="6095114" cy="2139047"/>
          </a:xfrm>
          <a:prstGeom prst="rect">
            <a:avLst/>
          </a:prstGeom>
          <a:noFill/>
        </p:spPr>
        <p:txBody>
          <a:bodyPr wrap="square">
            <a:spAutoFit/>
          </a:bodyPr>
          <a:lstStyle/>
          <a:p>
            <a:endParaRPr lang="en-US" sz="1900" b="1" dirty="0"/>
          </a:p>
          <a:p>
            <a:pPr marL="285750" indent="-285750">
              <a:buFont typeface="Arial" panose="020B0604020202020204" pitchFamily="34" charset="0"/>
              <a:buChar char="•"/>
            </a:pPr>
            <a:r>
              <a:rPr lang="en-US" sz="1900" dirty="0"/>
              <a:t>Simmons leads, followed by Kohli, DA warner and de Villiers.</a:t>
            </a:r>
          </a:p>
          <a:p>
            <a:pPr marL="285750" indent="-285750">
              <a:buFont typeface="Arial" panose="020B0604020202020204" pitchFamily="34" charset="0"/>
              <a:buChar char="•"/>
            </a:pPr>
            <a:r>
              <a:rPr lang="en-US" sz="1900" dirty="0"/>
              <a:t>RCB depends on Kohli and de Villiers for stability and scoring.</a:t>
            </a:r>
          </a:p>
          <a:p>
            <a:pPr marL="285750" indent="-285750">
              <a:buFont typeface="Arial" panose="020B0604020202020204" pitchFamily="34" charset="0"/>
              <a:buChar char="•"/>
            </a:pPr>
            <a:r>
              <a:rPr lang="en-US" sz="1900" dirty="0"/>
              <a:t>Big gap exists between top batsmen and the rest of the lineup.</a:t>
            </a:r>
          </a:p>
        </p:txBody>
      </p:sp>
      <p:graphicFrame>
        <p:nvGraphicFramePr>
          <p:cNvPr id="3" name="Chart 2">
            <a:extLst>
              <a:ext uri="{FF2B5EF4-FFF2-40B4-BE49-F238E27FC236}">
                <a16:creationId xmlns:a16="http://schemas.microsoft.com/office/drawing/2014/main" id="{18B872CE-4851-EAE6-3180-75DB1345C63B}"/>
              </a:ext>
            </a:extLst>
          </p:cNvPr>
          <p:cNvGraphicFramePr>
            <a:graphicFrameLocks/>
          </p:cNvGraphicFramePr>
          <p:nvPr>
            <p:extLst>
              <p:ext uri="{D42A27DB-BD31-4B8C-83A1-F6EECF244321}">
                <p14:modId xmlns:p14="http://schemas.microsoft.com/office/powerpoint/2010/main" val="1644149738"/>
              </p:ext>
            </p:extLst>
          </p:nvPr>
        </p:nvGraphicFramePr>
        <p:xfrm>
          <a:off x="7210203" y="1522965"/>
          <a:ext cx="4572000" cy="50054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71834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6DCC6-6E05-9242-4115-D56A3277C04D}"/>
              </a:ext>
            </a:extLst>
          </p:cNvPr>
          <p:cNvSpPr>
            <a:spLocks noGrp="1"/>
          </p:cNvSpPr>
          <p:nvPr>
            <p:ph type="title"/>
          </p:nvPr>
        </p:nvSpPr>
        <p:spPr/>
        <p:txBody>
          <a:bodyPr>
            <a:normAutofit/>
          </a:bodyPr>
          <a:lstStyle/>
          <a:p>
            <a:r>
              <a:rPr lang="en-IN" sz="3600" b="1" dirty="0">
                <a:solidFill>
                  <a:srgbClr val="C00000"/>
                </a:solidFill>
                <a:latin typeface="Baskerville Old Face" panose="02020602080505020303" pitchFamily="18" charset="0"/>
              </a:rPr>
              <a:t>Wicket-Taking Bowling Champions</a:t>
            </a:r>
          </a:p>
        </p:txBody>
      </p:sp>
      <p:pic>
        <p:nvPicPr>
          <p:cNvPr id="4" name="Picture 2" descr="RCB Logo">
            <a:extLst>
              <a:ext uri="{FF2B5EF4-FFF2-40B4-BE49-F238E27FC236}">
                <a16:creationId xmlns:a16="http://schemas.microsoft.com/office/drawing/2014/main" id="{BD133834-5DF6-9EDB-6F37-2787AF5F6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3E1A3EF-02F9-78B0-1E5A-13FCBE3F8546}"/>
              </a:ext>
            </a:extLst>
          </p:cNvPr>
          <p:cNvSpPr txBox="1"/>
          <p:nvPr/>
        </p:nvSpPr>
        <p:spPr>
          <a:xfrm>
            <a:off x="546249" y="1729145"/>
            <a:ext cx="6333459" cy="1554272"/>
          </a:xfrm>
          <a:prstGeom prst="rect">
            <a:avLst/>
          </a:prstGeom>
          <a:noFill/>
        </p:spPr>
        <p:txBody>
          <a:bodyPr wrap="square">
            <a:spAutoFit/>
          </a:bodyPr>
          <a:lstStyle/>
          <a:p>
            <a:r>
              <a:rPr lang="en-US" sz="1900" dirty="0"/>
              <a:t>I analyzed Total Wickets and season-wise consistency to identify bowlers who consistently make an impact. For RCB, these insights highlight reliable, pressure-ready bowlers who add stability to the attack. Targeting such performers in future auctions will help build a stronger, balanced bowling unit.</a:t>
            </a:r>
            <a:endParaRPr lang="en-IN" sz="1900" dirty="0"/>
          </a:p>
        </p:txBody>
      </p:sp>
      <p:sp>
        <p:nvSpPr>
          <p:cNvPr id="7" name="Rectangle 1">
            <a:extLst>
              <a:ext uri="{FF2B5EF4-FFF2-40B4-BE49-F238E27FC236}">
                <a16:creationId xmlns:a16="http://schemas.microsoft.com/office/drawing/2014/main" id="{CE17DC2F-8BB1-C87A-3317-8C67EDE18CC1}"/>
              </a:ext>
            </a:extLst>
          </p:cNvPr>
          <p:cNvSpPr>
            <a:spLocks noChangeArrowheads="1"/>
          </p:cNvSpPr>
          <p:nvPr/>
        </p:nvSpPr>
        <p:spPr bwMode="auto">
          <a:xfrm>
            <a:off x="546249" y="3866972"/>
            <a:ext cx="6576238"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900" dirty="0"/>
              <a:t>DJ Bravo</a:t>
            </a:r>
            <a:r>
              <a:rPr kumimoji="0" lang="en-US" altLang="en-US" sz="1900" b="0" i="0" u="none" strike="noStrike" cap="none" normalizeH="0" baseline="0" dirty="0">
                <a:ln>
                  <a:noFill/>
                </a:ln>
                <a:solidFill>
                  <a:schemeClr val="tx1"/>
                </a:solidFill>
                <a:effectLst/>
              </a:rPr>
              <a:t> leads as the most consistent wicket-taker.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MM Sharma, and B Kumar show strong, steady impact.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Chart highlights clear top-tier bowlers who perform under pressure.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These consistent wicket-takers are key targets for strengthening RCB’s attack.</a:t>
            </a:r>
          </a:p>
        </p:txBody>
      </p:sp>
      <p:graphicFrame>
        <p:nvGraphicFramePr>
          <p:cNvPr id="3" name="Chart 2">
            <a:extLst>
              <a:ext uri="{FF2B5EF4-FFF2-40B4-BE49-F238E27FC236}">
                <a16:creationId xmlns:a16="http://schemas.microsoft.com/office/drawing/2014/main" id="{4701A564-CB26-DC35-8628-F48179518B06}"/>
              </a:ext>
            </a:extLst>
          </p:cNvPr>
          <p:cNvGraphicFramePr>
            <a:graphicFrameLocks/>
          </p:cNvGraphicFramePr>
          <p:nvPr>
            <p:extLst>
              <p:ext uri="{D42A27DB-BD31-4B8C-83A1-F6EECF244321}">
                <p14:modId xmlns:p14="http://schemas.microsoft.com/office/powerpoint/2010/main" val="3081405238"/>
              </p:ext>
            </p:extLst>
          </p:nvPr>
        </p:nvGraphicFramePr>
        <p:xfrm>
          <a:off x="7265137" y="1600200"/>
          <a:ext cx="4380614" cy="48367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463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A8EF-B3F0-B4F8-5887-5B0A54A95B81}"/>
              </a:ext>
            </a:extLst>
          </p:cNvPr>
          <p:cNvSpPr>
            <a:spLocks noGrp="1"/>
          </p:cNvSpPr>
          <p:nvPr>
            <p:ph type="title"/>
          </p:nvPr>
        </p:nvSpPr>
        <p:spPr/>
        <p:txBody>
          <a:bodyPr>
            <a:normAutofit/>
          </a:bodyPr>
          <a:lstStyle/>
          <a:p>
            <a:r>
              <a:rPr lang="en-IN" sz="3600" b="1" dirty="0">
                <a:solidFill>
                  <a:srgbClr val="C00000"/>
                </a:solidFill>
                <a:latin typeface="Baskerville Old Face" panose="02020602080505020303" pitchFamily="18" charset="0"/>
              </a:rPr>
              <a:t>All-Rounder Performers</a:t>
            </a:r>
          </a:p>
        </p:txBody>
      </p:sp>
      <p:pic>
        <p:nvPicPr>
          <p:cNvPr id="4" name="Picture 2" descr="RCB Logo">
            <a:extLst>
              <a:ext uri="{FF2B5EF4-FFF2-40B4-BE49-F238E27FC236}">
                <a16:creationId xmlns:a16="http://schemas.microsoft.com/office/drawing/2014/main" id="{7731B6F2-2FF5-7C4A-7E06-D9DB054FB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DA47C97-D9F1-5AE7-58B2-6B19EE25E466}"/>
              </a:ext>
            </a:extLst>
          </p:cNvPr>
          <p:cNvSpPr txBox="1"/>
          <p:nvPr/>
        </p:nvSpPr>
        <p:spPr>
          <a:xfrm>
            <a:off x="643270" y="1874817"/>
            <a:ext cx="6234666" cy="1261884"/>
          </a:xfrm>
          <a:prstGeom prst="rect">
            <a:avLst/>
          </a:prstGeom>
          <a:noFill/>
        </p:spPr>
        <p:txBody>
          <a:bodyPr wrap="square">
            <a:spAutoFit/>
          </a:bodyPr>
          <a:lstStyle/>
          <a:p>
            <a:r>
              <a:rPr lang="en-US" sz="1900" dirty="0"/>
              <a:t>All-rounders who excel with both bat and ball bring vital balance and adaptability to any team. RCB, investing in such all-rounders brings depth and stability, helping turn close matches into winning moments.</a:t>
            </a:r>
            <a:endParaRPr lang="en-IN" sz="1900" dirty="0"/>
          </a:p>
        </p:txBody>
      </p:sp>
      <p:graphicFrame>
        <p:nvGraphicFramePr>
          <p:cNvPr id="3" name="Chart 2">
            <a:extLst>
              <a:ext uri="{FF2B5EF4-FFF2-40B4-BE49-F238E27FC236}">
                <a16:creationId xmlns:a16="http://schemas.microsoft.com/office/drawing/2014/main" id="{6EE622AF-99F5-D30A-4121-9B24D6790720}"/>
              </a:ext>
            </a:extLst>
          </p:cNvPr>
          <p:cNvGraphicFramePr>
            <a:graphicFrameLocks/>
          </p:cNvGraphicFramePr>
          <p:nvPr>
            <p:extLst>
              <p:ext uri="{D42A27DB-BD31-4B8C-83A1-F6EECF244321}">
                <p14:modId xmlns:p14="http://schemas.microsoft.com/office/powerpoint/2010/main" val="3498899777"/>
              </p:ext>
            </p:extLst>
          </p:nvPr>
        </p:nvGraphicFramePr>
        <p:xfrm>
          <a:off x="6831419" y="1517650"/>
          <a:ext cx="4933506" cy="4975225"/>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4">
            <a:extLst>
              <a:ext uri="{FF2B5EF4-FFF2-40B4-BE49-F238E27FC236}">
                <a16:creationId xmlns:a16="http://schemas.microsoft.com/office/drawing/2014/main" id="{CC6CDE64-33E0-7457-3BB7-E9C7E0648F2B}"/>
              </a:ext>
            </a:extLst>
          </p:cNvPr>
          <p:cNvSpPr>
            <a:spLocks noChangeArrowheads="1"/>
          </p:cNvSpPr>
          <p:nvPr/>
        </p:nvSpPr>
        <p:spPr bwMode="auto">
          <a:xfrm>
            <a:off x="364392" y="3662354"/>
            <a:ext cx="6467027"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Watson &amp; Jadeja are the strongest dual-impact all-rounders.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Pollard &amp; Smith contribute mainly with the bat.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Russell &amp; Henriques offer balanced mid-level support.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900" b="0" i="0" u="none" strike="noStrike" cap="none" normalizeH="0" baseline="0" dirty="0">
              <a:ln>
                <a:noFill/>
              </a:ln>
              <a:solidFill>
                <a:schemeClr val="tx1"/>
              </a:solidFill>
              <a:effectLst/>
            </a:endParaRPr>
          </a:p>
        </p:txBody>
      </p:sp>
      <p:sp>
        <p:nvSpPr>
          <p:cNvPr id="11" name="Rectangle 1">
            <a:extLst>
              <a:ext uri="{FF2B5EF4-FFF2-40B4-BE49-F238E27FC236}">
                <a16:creationId xmlns:a16="http://schemas.microsoft.com/office/drawing/2014/main" id="{F28030FC-CFAB-23A8-84F3-06FE859BA809}"/>
              </a:ext>
            </a:extLst>
          </p:cNvPr>
          <p:cNvSpPr>
            <a:spLocks noChangeArrowheads="1"/>
          </p:cNvSpPr>
          <p:nvPr/>
        </p:nvSpPr>
        <p:spPr bwMode="auto">
          <a:xfrm>
            <a:off x="364392" y="4254312"/>
            <a:ext cx="669031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9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 These players boost balance and adaptability across situations.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rPr>
              <a:t> Ideal targets for RCB to add depth, stability, and flexibility.</a:t>
            </a:r>
          </a:p>
        </p:txBody>
      </p:sp>
    </p:spTree>
    <p:extLst>
      <p:ext uri="{BB962C8B-B14F-4D97-AF65-F5344CB8AC3E}">
        <p14:creationId xmlns:p14="http://schemas.microsoft.com/office/powerpoint/2010/main" val="355605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CC65-77FA-7AF4-5428-B1A79BD2B28B}"/>
              </a:ext>
            </a:extLst>
          </p:cNvPr>
          <p:cNvSpPr>
            <a:spLocks noGrp="1"/>
          </p:cNvSpPr>
          <p:nvPr>
            <p:ph type="title"/>
          </p:nvPr>
        </p:nvSpPr>
        <p:spPr/>
        <p:txBody>
          <a:bodyPr>
            <a:normAutofit/>
          </a:bodyPr>
          <a:lstStyle/>
          <a:p>
            <a:r>
              <a:rPr lang="en-US" sz="3600" b="1" dirty="0">
                <a:solidFill>
                  <a:srgbClr val="C00000"/>
                </a:solidFill>
                <a:latin typeface="Baskerville Old Face" panose="02020602080505020303" pitchFamily="18" charset="0"/>
              </a:rPr>
              <a:t>Batting Champions By Strike Rate</a:t>
            </a:r>
            <a:endParaRPr lang="en-IN" sz="3600" b="1" dirty="0">
              <a:solidFill>
                <a:srgbClr val="C00000"/>
              </a:solidFill>
              <a:latin typeface="Baskerville Old Face" panose="02020602080505020303" pitchFamily="18" charset="0"/>
            </a:endParaRPr>
          </a:p>
        </p:txBody>
      </p:sp>
      <p:pic>
        <p:nvPicPr>
          <p:cNvPr id="4" name="Picture 2" descr="RCB Logo">
            <a:extLst>
              <a:ext uri="{FF2B5EF4-FFF2-40B4-BE49-F238E27FC236}">
                <a16:creationId xmlns:a16="http://schemas.microsoft.com/office/drawing/2014/main" id="{BF5FC03F-DFC5-4617-BC26-D3C1CD05E8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2F3877A-AE38-0FDE-41F5-0945681825F0}"/>
              </a:ext>
            </a:extLst>
          </p:cNvPr>
          <p:cNvSpPr>
            <a:spLocks noGrp="1"/>
          </p:cNvSpPr>
          <p:nvPr>
            <p:ph idx="1"/>
          </p:nvPr>
        </p:nvSpPr>
        <p:spPr>
          <a:xfrm>
            <a:off x="499509" y="1749723"/>
            <a:ext cx="6549655" cy="2092474"/>
          </a:xfrm>
        </p:spPr>
        <p:txBody>
          <a:bodyPr>
            <a:normAutofit/>
          </a:bodyPr>
          <a:lstStyle/>
          <a:p>
            <a:pPr marL="0" indent="0">
              <a:buNone/>
            </a:pPr>
            <a:r>
              <a:rPr lang="en-US" sz="1900" dirty="0"/>
              <a:t>To assess RCB’s batting strength, I analyzed Total Runs, Strike Rate, and venue-wise performance to identify players who are both consistent and adaptable. Strike Rate trends across seasons highlighted batsmen who score reliably under different conditions. These dependable performers anchor the innings while delivering impactful runs, making them valuable choices for retention and future auction strategies.</a:t>
            </a:r>
            <a:endParaRPr lang="en-IN" sz="1900" dirty="0"/>
          </a:p>
        </p:txBody>
      </p:sp>
      <p:sp>
        <p:nvSpPr>
          <p:cNvPr id="10" name="Rectangle 3">
            <a:extLst>
              <a:ext uri="{FF2B5EF4-FFF2-40B4-BE49-F238E27FC236}">
                <a16:creationId xmlns:a16="http://schemas.microsoft.com/office/drawing/2014/main" id="{E7568C02-B4F1-D5C8-B92A-1573BC2AADCA}"/>
              </a:ext>
            </a:extLst>
          </p:cNvPr>
          <p:cNvSpPr>
            <a:spLocks noChangeArrowheads="1"/>
          </p:cNvSpPr>
          <p:nvPr/>
        </p:nvSpPr>
        <p:spPr bwMode="auto">
          <a:xfrm>
            <a:off x="459749" y="3989718"/>
            <a:ext cx="6709365"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i="0" u="none" strike="noStrike" cap="none" normalizeH="0" baseline="0" dirty="0">
                <a:ln>
                  <a:noFill/>
                </a:ln>
                <a:solidFill>
                  <a:schemeClr val="tx1"/>
                </a:solidFill>
                <a:effectLst/>
              </a:rPr>
              <a:t>AB de Villiers offers maximum impact with the best strike rate.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i="0" u="none" strike="noStrike" cap="none" normalizeH="0" baseline="0" dirty="0">
                <a:ln>
                  <a:noFill/>
                </a:ln>
                <a:solidFill>
                  <a:schemeClr val="tx1"/>
                </a:solidFill>
                <a:effectLst/>
              </a:rPr>
              <a:t>Kohli and Warner deliver consistent high-volume scoring.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i="0" u="none" strike="noStrike" cap="none" normalizeH="0" baseline="0" dirty="0">
                <a:ln>
                  <a:noFill/>
                </a:ln>
                <a:solidFill>
                  <a:schemeClr val="tx1"/>
                </a:solidFill>
                <a:effectLst/>
              </a:rPr>
              <a:t>Gayle and Raina add aggressive momentum.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i="0" u="none" strike="noStrike" cap="none" normalizeH="0" baseline="0" dirty="0">
                <a:ln>
                  <a:noFill/>
                </a:ln>
                <a:solidFill>
                  <a:schemeClr val="tx1"/>
                </a:solidFill>
                <a:effectLst/>
              </a:rPr>
              <a:t>Rahane and Gambhir provide stability but slower scoring.</a:t>
            </a:r>
            <a:endParaRPr lang="en-US" sz="1900" dirty="0"/>
          </a:p>
          <a:p>
            <a:pPr marL="285750" lvl="0" indent="-285750" eaLnBrk="0" fontAlgn="base" hangingPunct="0">
              <a:spcBef>
                <a:spcPct val="0"/>
              </a:spcBef>
              <a:spcAft>
                <a:spcPct val="0"/>
              </a:spcAft>
              <a:buFont typeface="Arial" panose="020B0604020202020204" pitchFamily="34" charset="0"/>
              <a:buChar char="•"/>
            </a:pPr>
            <a:r>
              <a:rPr lang="en-US" sz="1900" dirty="0"/>
              <a:t>Overall, a mix of high-impact hitters and steady accumulators is key for effective team strategy.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900" i="0" u="none" strike="noStrike" cap="none" normalizeH="0" baseline="0" dirty="0">
              <a:ln>
                <a:noFill/>
              </a:ln>
              <a:solidFill>
                <a:schemeClr val="tx1"/>
              </a:solidFill>
              <a:effectLst/>
            </a:endParaRPr>
          </a:p>
        </p:txBody>
      </p:sp>
      <p:graphicFrame>
        <p:nvGraphicFramePr>
          <p:cNvPr id="5" name="Chart 4">
            <a:extLst>
              <a:ext uri="{FF2B5EF4-FFF2-40B4-BE49-F238E27FC236}">
                <a16:creationId xmlns:a16="http://schemas.microsoft.com/office/drawing/2014/main" id="{FD2994F9-0C5A-6198-A60F-DA3268CBF936}"/>
              </a:ext>
            </a:extLst>
          </p:cNvPr>
          <p:cNvGraphicFramePr/>
          <p:nvPr>
            <p:extLst>
              <p:ext uri="{D42A27DB-BD31-4B8C-83A1-F6EECF244321}">
                <p14:modId xmlns:p14="http://schemas.microsoft.com/office/powerpoint/2010/main" val="3851353931"/>
              </p:ext>
            </p:extLst>
          </p:nvPr>
        </p:nvGraphicFramePr>
        <p:xfrm>
          <a:off x="7299251" y="1690688"/>
          <a:ext cx="4433000" cy="46215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8550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C69FD-3D2A-15E6-1077-FE37504F681A}"/>
              </a:ext>
            </a:extLst>
          </p:cNvPr>
          <p:cNvSpPr>
            <a:spLocks noGrp="1"/>
          </p:cNvSpPr>
          <p:nvPr>
            <p:ph type="title"/>
          </p:nvPr>
        </p:nvSpPr>
        <p:spPr/>
        <p:txBody>
          <a:bodyPr>
            <a:noAutofit/>
          </a:bodyPr>
          <a:lstStyle/>
          <a:p>
            <a:r>
              <a:rPr lang="en-US" sz="3600" b="1" dirty="0">
                <a:solidFill>
                  <a:srgbClr val="C00000"/>
                </a:solidFill>
                <a:latin typeface="Baskerville Old Face" panose="02020602080505020303" pitchFamily="18" charset="0"/>
              </a:rPr>
              <a:t>Impact Of Toss Decision On Match Results Across Venues</a:t>
            </a:r>
            <a:endParaRPr lang="en-IN" sz="3600" dirty="0">
              <a:solidFill>
                <a:srgbClr val="C00000"/>
              </a:solidFill>
              <a:latin typeface="Baskerville Old Face" panose="02020602080505020303" pitchFamily="18" charset="0"/>
            </a:endParaRPr>
          </a:p>
        </p:txBody>
      </p:sp>
      <p:pic>
        <p:nvPicPr>
          <p:cNvPr id="4" name="Picture 2" descr="RCB Logo">
            <a:extLst>
              <a:ext uri="{FF2B5EF4-FFF2-40B4-BE49-F238E27FC236}">
                <a16:creationId xmlns:a16="http://schemas.microsoft.com/office/drawing/2014/main" id="{04CA5261-4E59-3D84-19B7-8F0395182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hart 6">
            <a:extLst>
              <a:ext uri="{FF2B5EF4-FFF2-40B4-BE49-F238E27FC236}">
                <a16:creationId xmlns:a16="http://schemas.microsoft.com/office/drawing/2014/main" id="{40711BFF-A44A-30DC-0FFB-D051EFFACBD0}"/>
              </a:ext>
            </a:extLst>
          </p:cNvPr>
          <p:cNvGraphicFramePr>
            <a:graphicFrameLocks/>
          </p:cNvGraphicFramePr>
          <p:nvPr>
            <p:extLst>
              <p:ext uri="{D42A27DB-BD31-4B8C-83A1-F6EECF244321}">
                <p14:modId xmlns:p14="http://schemas.microsoft.com/office/powerpoint/2010/main" val="3533592500"/>
              </p:ext>
            </p:extLst>
          </p:nvPr>
        </p:nvGraphicFramePr>
        <p:xfrm>
          <a:off x="6735726" y="1637414"/>
          <a:ext cx="5059326" cy="4855461"/>
        </p:xfrm>
        <a:graphic>
          <a:graphicData uri="http://schemas.openxmlformats.org/drawingml/2006/chart">
            <c:chart xmlns:c="http://schemas.openxmlformats.org/drawingml/2006/chart" xmlns:r="http://schemas.openxmlformats.org/officeDocument/2006/relationships" r:id="rId3"/>
          </a:graphicData>
        </a:graphic>
      </p:graphicFrame>
      <p:sp>
        <p:nvSpPr>
          <p:cNvPr id="9" name="Content Placeholder 8">
            <a:extLst>
              <a:ext uri="{FF2B5EF4-FFF2-40B4-BE49-F238E27FC236}">
                <a16:creationId xmlns:a16="http://schemas.microsoft.com/office/drawing/2014/main" id="{B03C38CC-1908-DD57-0F92-7067A3B12EDD}"/>
              </a:ext>
            </a:extLst>
          </p:cNvPr>
          <p:cNvSpPr>
            <a:spLocks noGrp="1"/>
          </p:cNvSpPr>
          <p:nvPr>
            <p:ph idx="1"/>
          </p:nvPr>
        </p:nvSpPr>
        <p:spPr>
          <a:xfrm>
            <a:off x="396948" y="1748680"/>
            <a:ext cx="6625857" cy="4609589"/>
          </a:xfrm>
        </p:spPr>
        <p:txBody>
          <a:bodyPr>
            <a:normAutofit lnSpcReduction="10000"/>
          </a:bodyPr>
          <a:lstStyle/>
          <a:p>
            <a:pPr marL="0" indent="0">
              <a:buNone/>
            </a:pPr>
            <a:r>
              <a:rPr lang="en-US" sz="2000" dirty="0"/>
              <a:t>A good way to study match dynamics is to see how the toss affects results. The analysis shows that winning the toss often helps teams choose the better option for the conditions .</a:t>
            </a:r>
            <a:r>
              <a:rPr lang="en-US" sz="1900" dirty="0"/>
              <a:t>The data shows that the impact of winning the toss changes from venue to venue. Some stadiums offer a clear advantage after the toss, while others show little to no benefit. This means the toss only helps when local pitch and weather conditions strongly influence the game.</a:t>
            </a:r>
          </a:p>
          <a:p>
            <a:pPr marL="0" indent="0">
              <a:buNone/>
            </a:pPr>
            <a:endParaRPr lang="en-US" sz="1900" b="1" dirty="0"/>
          </a:p>
          <a:p>
            <a:r>
              <a:rPr lang="en-US" sz="1900" dirty="0"/>
              <a:t>Toss advantage varies widely across venues.</a:t>
            </a:r>
          </a:p>
          <a:p>
            <a:r>
              <a:rPr lang="en-US" sz="1900" dirty="0"/>
              <a:t>Some grounds strongly favor teams winning the toss.</a:t>
            </a:r>
          </a:p>
          <a:p>
            <a:r>
              <a:rPr lang="en-US" sz="1900" dirty="0"/>
              <a:t>In many venues, the toss has minimal impact.</a:t>
            </a:r>
          </a:p>
          <a:p>
            <a:r>
              <a:rPr lang="en-US" sz="1900" dirty="0"/>
              <a:t>Bat/field decisions work best when based on venue-specific conditions.</a:t>
            </a:r>
          </a:p>
          <a:p>
            <a:r>
              <a:rPr lang="en-US" sz="1900" dirty="0"/>
              <a:t>Teams should plan toss strategies differently for each stadium.</a:t>
            </a:r>
          </a:p>
          <a:p>
            <a:endParaRPr lang="en-IN" sz="1900" dirty="0"/>
          </a:p>
        </p:txBody>
      </p:sp>
    </p:spTree>
    <p:extLst>
      <p:ext uri="{BB962C8B-B14F-4D97-AF65-F5344CB8AC3E}">
        <p14:creationId xmlns:p14="http://schemas.microsoft.com/office/powerpoint/2010/main" val="879352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4055D-D910-4322-F255-038A5A86B5DA}"/>
              </a:ext>
            </a:extLst>
          </p:cNvPr>
          <p:cNvSpPr>
            <a:spLocks noGrp="1"/>
          </p:cNvSpPr>
          <p:nvPr>
            <p:ph type="title"/>
          </p:nvPr>
        </p:nvSpPr>
        <p:spPr/>
        <p:txBody>
          <a:bodyPr>
            <a:normAutofit/>
          </a:bodyPr>
          <a:lstStyle/>
          <a:p>
            <a:r>
              <a:rPr lang="en-US" sz="3600" b="1" dirty="0">
                <a:solidFill>
                  <a:srgbClr val="C00000"/>
                </a:solidFill>
                <a:latin typeface="Baskerville Old Face" panose="02020602080505020303" pitchFamily="18" charset="0"/>
              </a:rPr>
              <a:t>Win Margin And High-scoring Match Insights</a:t>
            </a:r>
            <a:endParaRPr lang="en-IN" sz="3600" dirty="0">
              <a:solidFill>
                <a:srgbClr val="C00000"/>
              </a:solidFill>
              <a:latin typeface="Baskerville Old Face" panose="02020602080505020303" pitchFamily="18" charset="0"/>
            </a:endParaRPr>
          </a:p>
        </p:txBody>
      </p:sp>
      <p:graphicFrame>
        <p:nvGraphicFramePr>
          <p:cNvPr id="4" name="Chart 3">
            <a:extLst>
              <a:ext uri="{FF2B5EF4-FFF2-40B4-BE49-F238E27FC236}">
                <a16:creationId xmlns:a16="http://schemas.microsoft.com/office/drawing/2014/main" id="{5DCC7D3E-F831-76C1-BEC4-C9CE177F8764}"/>
              </a:ext>
            </a:extLst>
          </p:cNvPr>
          <p:cNvGraphicFramePr>
            <a:graphicFrameLocks/>
          </p:cNvGraphicFramePr>
          <p:nvPr>
            <p:extLst>
              <p:ext uri="{D42A27DB-BD31-4B8C-83A1-F6EECF244321}">
                <p14:modId xmlns:p14="http://schemas.microsoft.com/office/powerpoint/2010/main" val="3282362824"/>
              </p:ext>
            </p:extLst>
          </p:nvPr>
        </p:nvGraphicFramePr>
        <p:xfrm>
          <a:off x="7224712" y="1573619"/>
          <a:ext cx="4614641" cy="4919256"/>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2" descr="RCB Logo">
            <a:extLst>
              <a:ext uri="{FF2B5EF4-FFF2-40B4-BE49-F238E27FC236}">
                <a16:creationId xmlns:a16="http://schemas.microsoft.com/office/drawing/2014/main" id="{424969DE-CA94-D61F-002B-458F4E7AF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76346CD1-AAEE-671A-0151-766739247EED}"/>
              </a:ext>
            </a:extLst>
          </p:cNvPr>
          <p:cNvSpPr>
            <a:spLocks noGrp="1"/>
          </p:cNvSpPr>
          <p:nvPr>
            <p:ph idx="1"/>
          </p:nvPr>
        </p:nvSpPr>
        <p:spPr>
          <a:xfrm>
            <a:off x="590551" y="1690685"/>
            <a:ext cx="6963882" cy="4646319"/>
          </a:xfrm>
        </p:spPr>
        <p:txBody>
          <a:bodyPr>
            <a:noAutofit/>
          </a:bodyPr>
          <a:lstStyle/>
          <a:p>
            <a:pPr marL="0" indent="0">
              <a:buNone/>
            </a:pPr>
            <a:r>
              <a:rPr lang="en-US" sz="1900" dirty="0"/>
              <a:t>The data reveals that RCB leads with the highest average win margin, indicating strong dominance across their matches. CSK and MI also show solid consistency, while mid-tier teams like KXIP, RR, and SRH display competitive but less commanding performances. Teams with lower margins, such as DD and GL, struggle to secure convincing wins, highlighting clear performance gaps across teams.</a:t>
            </a:r>
          </a:p>
          <a:p>
            <a:pPr marL="0" indent="0">
              <a:buNone/>
            </a:pPr>
            <a:endParaRPr lang="en-US" sz="1000" dirty="0"/>
          </a:p>
          <a:p>
            <a:r>
              <a:rPr lang="en-US" sz="1900" dirty="0"/>
              <a:t>High win margins reflect strong batting–bowling balance.</a:t>
            </a:r>
          </a:p>
          <a:p>
            <a:r>
              <a:rPr lang="en-US" sz="1900" dirty="0"/>
              <a:t>RCB, CSK, and MI set benchmarks for dominant team performance.</a:t>
            </a:r>
          </a:p>
          <a:p>
            <a:r>
              <a:rPr lang="en-US" sz="1900" dirty="0"/>
              <a:t>Mid-tier teams show potential but lack consistent finishing strength.</a:t>
            </a:r>
          </a:p>
          <a:p>
            <a:r>
              <a:rPr lang="en-US" sz="1900" dirty="0"/>
              <a:t>Low-margin teams may need strategic changes in squad composition.</a:t>
            </a:r>
          </a:p>
          <a:p>
            <a:r>
              <a:rPr lang="en-US" sz="1900" dirty="0"/>
              <a:t>Win-margin patterns help guide planning and performance benchmarking.</a:t>
            </a:r>
          </a:p>
          <a:p>
            <a:endParaRPr lang="en-IN" sz="1900" dirty="0"/>
          </a:p>
        </p:txBody>
      </p:sp>
    </p:spTree>
    <p:extLst>
      <p:ext uri="{BB962C8B-B14F-4D97-AF65-F5344CB8AC3E}">
        <p14:creationId xmlns:p14="http://schemas.microsoft.com/office/powerpoint/2010/main" val="1593978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D3F5E-ABD4-F3E7-D485-02D64111B7E3}"/>
              </a:ext>
            </a:extLst>
          </p:cNvPr>
          <p:cNvSpPr>
            <a:spLocks noGrp="1"/>
          </p:cNvSpPr>
          <p:nvPr>
            <p:ph type="title"/>
          </p:nvPr>
        </p:nvSpPr>
        <p:spPr/>
        <p:txBody>
          <a:bodyPr>
            <a:normAutofit/>
          </a:bodyPr>
          <a:lstStyle/>
          <a:p>
            <a:pPr algn="ctr"/>
            <a:r>
              <a:rPr lang="en-US" sz="3600" b="1" dirty="0">
                <a:solidFill>
                  <a:srgbClr val="C00000"/>
                </a:solidFill>
                <a:latin typeface="Baskerville Old Face" panose="02020602080505020303" pitchFamily="18" charset="0"/>
              </a:rPr>
              <a:t>KEY INSIGHTS</a:t>
            </a:r>
            <a:endParaRPr lang="en-IN" sz="3200" b="1" dirty="0">
              <a:solidFill>
                <a:srgbClr val="C00000"/>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2EC8592E-7EB1-12CE-E78C-F07F6FDF7F63}"/>
              </a:ext>
            </a:extLst>
          </p:cNvPr>
          <p:cNvSpPr>
            <a:spLocks noGrp="1"/>
          </p:cNvSpPr>
          <p:nvPr>
            <p:ph idx="1"/>
          </p:nvPr>
        </p:nvSpPr>
        <p:spPr>
          <a:xfrm>
            <a:off x="567069" y="1825625"/>
            <a:ext cx="5257800" cy="4091394"/>
          </a:xfrm>
        </p:spPr>
        <p:txBody>
          <a:bodyPr>
            <a:normAutofit/>
          </a:bodyPr>
          <a:lstStyle/>
          <a:p>
            <a:r>
              <a:rPr lang="en-US" sz="1900" b="1" dirty="0"/>
              <a:t> Team Performance</a:t>
            </a:r>
          </a:p>
          <a:p>
            <a:pPr marL="0" indent="0">
              <a:buNone/>
            </a:pPr>
            <a:r>
              <a:rPr lang="en-US" sz="1900" dirty="0"/>
              <a:t>RCB showed fluctuating results across seasons.</a:t>
            </a:r>
          </a:p>
          <a:p>
            <a:pPr marL="0" indent="0">
              <a:buNone/>
            </a:pPr>
            <a:r>
              <a:rPr lang="en-US" sz="1900" dirty="0"/>
              <a:t>Best performances came in 2013 and 2016.</a:t>
            </a:r>
          </a:p>
          <a:p>
            <a:r>
              <a:rPr lang="en-US" sz="1900" b="1" dirty="0"/>
              <a:t> Batting Insights</a:t>
            </a:r>
          </a:p>
          <a:p>
            <a:pPr marL="0" indent="0">
              <a:buNone/>
            </a:pPr>
            <a:r>
              <a:rPr lang="en-US" sz="1900" dirty="0"/>
              <a:t>Kohli and AB de Villiers are the main scoring pillars.</a:t>
            </a:r>
          </a:p>
          <a:p>
            <a:pPr marL="0" indent="0">
              <a:buNone/>
            </a:pPr>
            <a:r>
              <a:rPr lang="en-US" sz="1900" dirty="0"/>
              <a:t>High strike-rate hitters like ABD and Pandya stand out.</a:t>
            </a:r>
          </a:p>
          <a:p>
            <a:r>
              <a:rPr lang="en-US" sz="1900" b="1" dirty="0"/>
              <a:t> Bowling Insights</a:t>
            </a:r>
          </a:p>
          <a:p>
            <a:pPr marL="0" indent="0">
              <a:buNone/>
            </a:pPr>
            <a:r>
              <a:rPr lang="en-US" sz="1900" dirty="0"/>
              <a:t>Bravo leads in consistent wicket-taking.</a:t>
            </a:r>
          </a:p>
          <a:p>
            <a:pPr marL="0" indent="0">
              <a:buNone/>
            </a:pPr>
            <a:r>
              <a:rPr lang="en-US" sz="1900" dirty="0"/>
              <a:t>MM Sharma and B Kumar provide strong bowling impact.</a:t>
            </a:r>
          </a:p>
          <a:p>
            <a:endParaRPr lang="en-IN" sz="1900" dirty="0"/>
          </a:p>
        </p:txBody>
      </p:sp>
      <p:pic>
        <p:nvPicPr>
          <p:cNvPr id="4" name="Picture 2" descr="RCB Logo">
            <a:extLst>
              <a:ext uri="{FF2B5EF4-FFF2-40B4-BE49-F238E27FC236}">
                <a16:creationId xmlns:a16="http://schemas.microsoft.com/office/drawing/2014/main" id="{B8CCB478-F70E-0E49-060B-9F919D836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D28C7E4-E6E1-4EC0-2FD7-4AFC2F3DD158}"/>
              </a:ext>
            </a:extLst>
          </p:cNvPr>
          <p:cNvSpPr txBox="1"/>
          <p:nvPr/>
        </p:nvSpPr>
        <p:spPr>
          <a:xfrm>
            <a:off x="5858539" y="1825625"/>
            <a:ext cx="6007396" cy="2323713"/>
          </a:xfrm>
          <a:prstGeom prst="rect">
            <a:avLst/>
          </a:prstGeom>
          <a:noFill/>
        </p:spPr>
        <p:txBody>
          <a:bodyPr wrap="square">
            <a:spAutoFit/>
          </a:bodyPr>
          <a:lstStyle/>
          <a:p>
            <a:pPr marL="342900" indent="-342900">
              <a:buFont typeface="Arial" panose="020B0604020202020204" pitchFamily="34" charset="0"/>
              <a:buChar char="•"/>
            </a:pPr>
            <a:r>
              <a:rPr lang="en-US" sz="1900" b="1" dirty="0"/>
              <a:t> All-Rounder Impact</a:t>
            </a:r>
          </a:p>
          <a:p>
            <a:endParaRPr lang="en-US" sz="500" b="1" dirty="0"/>
          </a:p>
          <a:p>
            <a:pPr marL="0" indent="0">
              <a:buNone/>
            </a:pPr>
            <a:r>
              <a:rPr lang="en-US" sz="1900" dirty="0"/>
              <a:t>Watson </a:t>
            </a:r>
            <a:r>
              <a:rPr lang="en-US" sz="1900"/>
              <a:t>and Jadeja </a:t>
            </a:r>
            <a:r>
              <a:rPr lang="en-US" sz="1900" dirty="0"/>
              <a:t>deliver strong dual contributions.</a:t>
            </a:r>
          </a:p>
          <a:p>
            <a:pPr marL="0" indent="0">
              <a:buNone/>
            </a:pPr>
            <a:endParaRPr lang="en-US" sz="500" dirty="0"/>
          </a:p>
          <a:p>
            <a:pPr marL="0" indent="0">
              <a:buNone/>
            </a:pPr>
            <a:r>
              <a:rPr lang="en-US" sz="1900" dirty="0"/>
              <a:t>All-rounders add balance and match-winning flexibility.</a:t>
            </a:r>
          </a:p>
          <a:p>
            <a:endParaRPr lang="en-US" sz="1200" dirty="0"/>
          </a:p>
          <a:p>
            <a:pPr marL="342900" indent="-342900">
              <a:buFont typeface="Arial" panose="020B0604020202020204" pitchFamily="34" charset="0"/>
              <a:buChar char="•"/>
            </a:pPr>
            <a:r>
              <a:rPr lang="en-US" sz="1900" b="1" dirty="0"/>
              <a:t> Toss Decision Insights</a:t>
            </a:r>
            <a:endParaRPr lang="en-US" sz="500" b="1" dirty="0"/>
          </a:p>
          <a:p>
            <a:endParaRPr lang="en-US" sz="400" b="1" dirty="0"/>
          </a:p>
          <a:p>
            <a:pPr marL="0" indent="0">
              <a:buNone/>
            </a:pPr>
            <a:r>
              <a:rPr lang="en-US" sz="1900" dirty="0"/>
              <a:t>Toss advantage varies significantly by venue.</a:t>
            </a:r>
          </a:p>
          <a:p>
            <a:pPr marL="0" indent="0">
              <a:buNone/>
            </a:pPr>
            <a:endParaRPr lang="en-US" sz="500" dirty="0"/>
          </a:p>
          <a:p>
            <a:pPr marL="0" indent="0">
              <a:buNone/>
            </a:pPr>
            <a:r>
              <a:rPr lang="en-US" sz="1900" dirty="0"/>
              <a:t>Effective only when conditions strongly affect gameplay.</a:t>
            </a:r>
          </a:p>
        </p:txBody>
      </p:sp>
    </p:spTree>
    <p:extLst>
      <p:ext uri="{BB962C8B-B14F-4D97-AF65-F5344CB8AC3E}">
        <p14:creationId xmlns:p14="http://schemas.microsoft.com/office/powerpoint/2010/main" val="3050422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608F5-4FDD-D798-C491-B261B9483EBA}"/>
              </a:ext>
            </a:extLst>
          </p:cNvPr>
          <p:cNvSpPr>
            <a:spLocks noGrp="1"/>
          </p:cNvSpPr>
          <p:nvPr>
            <p:ph type="title"/>
          </p:nvPr>
        </p:nvSpPr>
        <p:spPr/>
        <p:txBody>
          <a:bodyPr>
            <a:normAutofit/>
          </a:bodyPr>
          <a:lstStyle/>
          <a:p>
            <a:pPr algn="ctr"/>
            <a:r>
              <a:rPr lang="en-US" sz="3600" b="1" dirty="0">
                <a:solidFill>
                  <a:srgbClr val="C00000"/>
                </a:solidFill>
                <a:latin typeface="Baskerville Old Face" panose="02020602080505020303" pitchFamily="18" charset="0"/>
              </a:rPr>
              <a:t>STRATEGIC RECOMMENDATION</a:t>
            </a:r>
            <a:endParaRPr lang="en-IN" sz="3600" b="1" dirty="0">
              <a:solidFill>
                <a:srgbClr val="C00000"/>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8BF64B78-DB41-A70E-DD7B-F3644B88120D}"/>
              </a:ext>
            </a:extLst>
          </p:cNvPr>
          <p:cNvSpPr>
            <a:spLocks noGrp="1"/>
          </p:cNvSpPr>
          <p:nvPr>
            <p:ph idx="1"/>
          </p:nvPr>
        </p:nvSpPr>
        <p:spPr>
          <a:xfrm>
            <a:off x="579474" y="1825625"/>
            <a:ext cx="11196084" cy="4351338"/>
          </a:xfrm>
        </p:spPr>
        <p:txBody>
          <a:bodyPr>
            <a:normAutofit/>
          </a:bodyPr>
          <a:lstStyle/>
          <a:p>
            <a:r>
              <a:rPr lang="en-US" sz="1900" b="1" dirty="0"/>
              <a:t>Player Recruitment:</a:t>
            </a:r>
            <a:r>
              <a:rPr lang="en-US" sz="1900" dirty="0"/>
              <a:t> Sign players with steady, proven batting and bowling performance.</a:t>
            </a:r>
          </a:p>
          <a:p>
            <a:r>
              <a:rPr lang="en-US" sz="1900" b="1" dirty="0"/>
              <a:t>Venue Strategies:</a:t>
            </a:r>
            <a:r>
              <a:rPr lang="en-US" sz="1900" dirty="0"/>
              <a:t> Shape match plans using past venue-specific results.</a:t>
            </a:r>
          </a:p>
          <a:p>
            <a:r>
              <a:rPr lang="en-US" sz="1900" b="1" dirty="0"/>
              <a:t>Toss Optimization:</a:t>
            </a:r>
            <a:r>
              <a:rPr lang="en-US" sz="1900" dirty="0"/>
              <a:t> Let historical data guide whether to bat or bowl first.</a:t>
            </a:r>
          </a:p>
          <a:p>
            <a:r>
              <a:rPr lang="en-US" sz="1900" b="1" dirty="0"/>
              <a:t>Diverse Skill Sets:</a:t>
            </a:r>
            <a:r>
              <a:rPr lang="en-US" sz="1900" dirty="0"/>
              <a:t> Build a balanced team with varied batting and bowling strengths.</a:t>
            </a:r>
          </a:p>
          <a:p>
            <a:r>
              <a:rPr lang="en-US" sz="1900" b="1" dirty="0"/>
              <a:t>Team Morale:</a:t>
            </a:r>
            <a:r>
              <a:rPr lang="en-US" sz="1900" dirty="0"/>
              <a:t> Maintain a positive, unified team environment.</a:t>
            </a:r>
          </a:p>
          <a:p>
            <a:r>
              <a:rPr lang="en-US" sz="1900" b="1" dirty="0"/>
              <a:t>Performance Monitoring:</a:t>
            </a:r>
            <a:r>
              <a:rPr lang="en-US" sz="1900" dirty="0"/>
              <a:t> Track key metrics regularly to adjust strategies.</a:t>
            </a:r>
          </a:p>
          <a:p>
            <a:r>
              <a:rPr lang="en-US" sz="1900" b="1" dirty="0"/>
              <a:t>High-Scoring Insights:</a:t>
            </a:r>
            <a:r>
              <a:rPr lang="en-US" sz="1900" dirty="0"/>
              <a:t> Apply lessons from high-scoring games to future tactics.</a:t>
            </a:r>
          </a:p>
          <a:p>
            <a:endParaRPr lang="en-IN" sz="1900" dirty="0"/>
          </a:p>
        </p:txBody>
      </p:sp>
      <p:pic>
        <p:nvPicPr>
          <p:cNvPr id="4" name="Picture 2" descr="RCB Logo">
            <a:extLst>
              <a:ext uri="{FF2B5EF4-FFF2-40B4-BE49-F238E27FC236}">
                <a16:creationId xmlns:a16="http://schemas.microsoft.com/office/drawing/2014/main" id="{959C6183-1863-9723-DC71-FD936615F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10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896DA-93E2-0AB5-1DC6-3008796059D7}"/>
              </a:ext>
            </a:extLst>
          </p:cNvPr>
          <p:cNvSpPr>
            <a:spLocks noGrp="1"/>
          </p:cNvSpPr>
          <p:nvPr>
            <p:ph type="title"/>
          </p:nvPr>
        </p:nvSpPr>
        <p:spPr/>
        <p:txBody>
          <a:bodyPr>
            <a:normAutofit/>
          </a:bodyPr>
          <a:lstStyle/>
          <a:p>
            <a:pPr algn="ctr"/>
            <a:r>
              <a:rPr lang="en-US" sz="3600" b="1" dirty="0">
                <a:solidFill>
                  <a:srgbClr val="C00000"/>
                </a:solidFill>
                <a:latin typeface="Baskerville Old Face" panose="02020602080505020303" pitchFamily="18" charset="0"/>
              </a:rPr>
              <a:t>CONCLUSION</a:t>
            </a:r>
            <a:endParaRPr lang="en-IN" sz="3600" b="1" dirty="0">
              <a:solidFill>
                <a:srgbClr val="C00000"/>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775FC9F0-67FC-93E5-2FFD-26AA1D79C96A}"/>
              </a:ext>
            </a:extLst>
          </p:cNvPr>
          <p:cNvSpPr>
            <a:spLocks noGrp="1"/>
          </p:cNvSpPr>
          <p:nvPr>
            <p:ph idx="1"/>
          </p:nvPr>
        </p:nvSpPr>
        <p:spPr/>
        <p:txBody>
          <a:bodyPr>
            <a:normAutofit/>
          </a:bodyPr>
          <a:lstStyle/>
          <a:p>
            <a:r>
              <a:rPr lang="en-US" sz="2600" dirty="0"/>
              <a:t>The analysis shows which players perform well regularly and which new talents are growing.</a:t>
            </a:r>
          </a:p>
          <a:p>
            <a:r>
              <a:rPr lang="en-US" sz="2600" dirty="0"/>
              <a:t>Choosing players who can adapt to different match conditions will help the team.</a:t>
            </a:r>
          </a:p>
          <a:p>
            <a:r>
              <a:rPr lang="en-US" sz="2600" dirty="0"/>
              <a:t>Mixing experienced players with young talent makes the team stronger.</a:t>
            </a:r>
          </a:p>
          <a:p>
            <a:r>
              <a:rPr lang="en-US" sz="2600" dirty="0"/>
              <a:t>Overall, using this information will help RCB make better choices and improve their chances of doing well in 2017 and in the future.</a:t>
            </a:r>
          </a:p>
          <a:p>
            <a:endParaRPr lang="en-IN" sz="2600" dirty="0"/>
          </a:p>
        </p:txBody>
      </p:sp>
      <p:pic>
        <p:nvPicPr>
          <p:cNvPr id="4" name="Picture 2" descr="RCB Logo">
            <a:extLst>
              <a:ext uri="{FF2B5EF4-FFF2-40B4-BE49-F238E27FC236}">
                <a16:creationId xmlns:a16="http://schemas.microsoft.com/office/drawing/2014/main" id="{6043A16B-88D3-D75E-493B-7CC824823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524" y="365125"/>
            <a:ext cx="79692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762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1379</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Baskerville Old Face</vt:lpstr>
      <vt:lpstr>Calibri</vt:lpstr>
      <vt:lpstr>Calibri Light</vt:lpstr>
      <vt:lpstr>Courier New</vt:lpstr>
      <vt:lpstr>Office Theme</vt:lpstr>
      <vt:lpstr>SQL Project:  RCB - IPL Strategy</vt:lpstr>
      <vt:lpstr>PROBLEM STATEMENT</vt:lpstr>
      <vt:lpstr>DATA OVERVIEW</vt:lpstr>
      <vt:lpstr>DATABASE SCHEMA</vt:lpstr>
      <vt:lpstr>METHODOLOGY</vt:lpstr>
      <vt:lpstr>RCB Performance Analysis: 2013–2016</vt:lpstr>
      <vt:lpstr>Top Batters By Average Runs Per Match</vt:lpstr>
      <vt:lpstr>Wicket-Taking Bowling Champions</vt:lpstr>
      <vt:lpstr>All-Rounder Performers</vt:lpstr>
      <vt:lpstr>Batting Champions By Strike Rate</vt:lpstr>
      <vt:lpstr>Impact Of Toss Decision On Match Results Across Venues</vt:lpstr>
      <vt:lpstr>Win Margin And High-scoring Match Insights</vt:lpstr>
      <vt:lpstr>KEY INSIGHTS</vt:lpstr>
      <vt:lpstr>STRATEGIC 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DHRUV KESHRI</dc:creator>
  <cp:lastModifiedBy>DHRUV KESHRI</cp:lastModifiedBy>
  <cp:revision>1</cp:revision>
  <dcterms:created xsi:type="dcterms:W3CDTF">2025-11-27T12:59:22Z</dcterms:created>
  <dcterms:modified xsi:type="dcterms:W3CDTF">2025-12-31T17:47:05Z</dcterms:modified>
</cp:coreProperties>
</file>